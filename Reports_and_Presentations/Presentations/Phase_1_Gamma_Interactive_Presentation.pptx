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hyperlink" Target="https://doi.org/10.1016/j.rse.2019.01.011" TargetMode="External"/><Relationship Id="rId4" Type="http://schemas.openxmlformats.org/officeDocument/2006/relationships/image" Target="../media/image9.jpg"/><Relationship Id="rId5" Type="http://schemas.openxmlformats.org/officeDocument/2006/relationships/hyperlink" Target="https://www.redalyc.org/pdf/687/68759600010.pdf" TargetMode="External"/><Relationship Id="rId6" Type="http://schemas.openxmlformats.org/officeDocument/2006/relationships/image" Target="../media/image10.jpg"/><Relationship Id="rId7" Type="http://schemas.openxmlformats.org/officeDocument/2006/relationships/hyperlink" Target="https://doi.org/10.3390/s23041845" TargetMode="External"/><Relationship Id="rId8" Type="http://schemas.openxmlformats.org/officeDocument/2006/relationships/image" Target="../media/image11.jpg"/><Relationship Id="rId9" Type="http://schemas.openxmlformats.org/officeDocument/2006/relationships/hyperlink" Target="https://doi.org/10.3390/rs13101952" TargetMode="External"/><Relationship Id="rId10" Type="http://schemas.openxmlformats.org/officeDocument/2006/relationships/image" Target="../media/image12.png"/><Relationship Id="rId11" Type="http://schemas.openxmlformats.org/officeDocument/2006/relationships/hyperlink" Target="https://doi.org/10.1016/j.geoderma.2018.01.03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503.22276" TargetMode="External"/><Relationship Id="rId3" Type="http://schemas.openxmlformats.org/officeDocument/2006/relationships/hyperlink" Target="https://doi.org/10.3389/frsen.2024.1342115" TargetMode="External"/><Relationship Id="rId4" Type="http://schemas.openxmlformats.org/officeDocument/2006/relationships/hyperlink" Target="https://doi.org/10.3390/rs10081236" TargetMode="External"/><Relationship Id="rId5" Type="http://schemas.openxmlformats.org/officeDocument/2006/relationships/hyperlink" Target="https://doi.org/10.1109/ACCESS.2021.3083561" TargetMode="External"/><Relationship Id="rId6" Type="http://schemas.openxmlformats.org/officeDocument/2006/relationships/hyperlink" Target="https://doi.org/10.3390/s21186088" TargetMode="External"/><Relationship Id="rId7" Type="http://schemas.openxmlformats.org/officeDocument/2006/relationships/hyperlink" Target="https://doi.org/10.1016/j.geoderma.2020.11425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hyperlink" Target="https://doi.org/10.1080/10106049.2024.2319623" TargetMode="External"/><Relationship Id="rId4" Type="http://schemas.openxmlformats.org/officeDocument/2006/relationships/image" Target="../media/image14.jpg"/><Relationship Id="rId5" Type="http://schemas.openxmlformats.org/officeDocument/2006/relationships/hyperlink" Target="https://www.ijset.in" TargetMode="External"/><Relationship Id="rId6" Type="http://schemas.openxmlformats.org/officeDocument/2006/relationships/image" Target="../media/image15.jpg"/><Relationship Id="rId7" Type="http://schemas.openxmlformats.org/officeDocument/2006/relationships/hyperlink" Target="https://doi.org/10.3390/rs13071312" TargetMode="External"/><Relationship Id="rId8" Type="http://schemas.openxmlformats.org/officeDocument/2006/relationships/image" Target="../media/image16.jpg"/><Relationship Id="rId9" Type="http://schemas.openxmlformats.org/officeDocument/2006/relationships/hyperlink" Target="https://doi.org/10.1016/j.geoderma.2019.06.012" TargetMode="External"/><Relationship Id="rId10" Type="http://schemas.openxmlformats.org/officeDocument/2006/relationships/image" Target="../media/image17.jpg"/><Relationship Id="rId11" Type="http://schemas.openxmlformats.org/officeDocument/2006/relationships/hyperlink" Target="https://cigrjournal.or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rse.2019.01.011" TargetMode="External"/><Relationship Id="rId3" Type="http://schemas.openxmlformats.org/officeDocument/2006/relationships/hyperlink" Target="https://doi.org/10.3390/rs13101952" TargetMode="External"/><Relationship Id="rId4" Type="http://schemas.openxmlformats.org/officeDocument/2006/relationships/hyperlink" Target="https://doi.org/10.3390/s23041845" TargetMode="External"/><Relationship Id="rId5" Type="http://schemas.openxmlformats.org/officeDocument/2006/relationships/hyperlink" Target="https://www.redalyc.org/pdf/687/68759600010.pdf" TargetMode="External"/><Relationship Id="rId6" Type="http://schemas.openxmlformats.org/officeDocument/2006/relationships/hyperlink" Target="https://arxiv.org/abs/2503.22276" TargetMode="External"/><Relationship Id="rId7" Type="http://schemas.openxmlformats.org/officeDocument/2006/relationships/hyperlink" Target="https://doi.org/10.3390/rs10081236" TargetMode="External"/><Relationship Id="rId8" Type="http://schemas.openxmlformats.org/officeDocument/2006/relationships/hyperlink" Target="https://doi.org/10.3389/frsen.2024.1342115" TargetMode="External"/><Relationship Id="rId9" Type="http://schemas.openxmlformats.org/officeDocument/2006/relationships/hyperlink" Target="https://doi.org/10.1016/j.geoderma.2018.01.037" TargetMode="External"/><Relationship Id="rId10" Type="http://schemas.openxmlformats.org/officeDocument/2006/relationships/hyperlink" Target="https://doi.org/10.1080/10106049.2024.2319623" TargetMode="External"/><Relationship Id="rId11" Type="http://schemas.openxmlformats.org/officeDocument/2006/relationships/hyperlink" Target="https://doi.org/10.1016/j.geoderma.2019.06.012" TargetMode="External"/><Relationship Id="rId12" Type="http://schemas.openxmlformats.org/officeDocument/2006/relationships/hyperlink" Target="https://www.ijset.in" TargetMode="External"/><Relationship Id="rId13" Type="http://schemas.openxmlformats.org/officeDocument/2006/relationships/hyperlink" Target="https://cigrjournal.org" TargetMode="External"/><Relationship Id="rId14" Type="http://schemas.openxmlformats.org/officeDocument/2006/relationships/hyperlink" Target="https://doi.org/10.1016/j.geoderma.2020.114251" TargetMode="External"/><Relationship Id="rId15" Type="http://schemas.openxmlformats.org/officeDocument/2006/relationships/hyperlink" Target="https://doi.org/10.1109/ACCESS.2021.3083561" TargetMode="External"/><Relationship Id="rId16" Type="http://schemas.openxmlformats.org/officeDocument/2006/relationships/hyperlink" Target="https://doi.org/10.3390/rs1307131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ge_01_img_01.jpeg"/>
          <p:cNvPicPr>
            <a:picLocks noChangeAspect="1"/>
          </p:cNvPicPr>
          <p:nvPr/>
        </p:nvPicPr>
        <p:blipFill>
          <a:blip r:embed="rId2"/>
          <a:stretch>
            <a:fillRect/>
          </a:stretch>
        </p:blipFill>
        <p:spPr>
          <a:xfrm>
            <a:off x="7589520" y="0"/>
            <a:ext cx="4602175" cy="6858000"/>
          </a:xfrm>
          <a:prstGeom prst="rect">
            <a:avLst/>
          </a:prstGeom>
        </p:spPr>
      </p:pic>
      <p:sp>
        <p:nvSpPr>
          <p:cNvPr id="4" name="TextBox 3"/>
          <p:cNvSpPr txBox="1"/>
          <p:nvPr/>
        </p:nvSpPr>
        <p:spPr>
          <a:xfrm>
            <a:off x="731520" y="548640"/>
            <a:ext cx="6492240" cy="5760720"/>
          </a:xfrm>
          <a:prstGeom prst="rect">
            <a:avLst/>
          </a:prstGeom>
          <a:noFill/>
        </p:spPr>
        <p:txBody>
          <a:bodyPr wrap="square" lIns="0" tIns="0" rIns="0" bIns="0">
            <a:spAutoFit/>
          </a:bodyPr>
          <a:lstStyle/>
          <a:p>
            <a:pPr>
              <a:spcAft>
                <a:spcPts val="1400"/>
              </a:spcAft>
              <a:defRPr sz="2800" b="1">
                <a:solidFill>
                  <a:srgbClr val="1C1E1C"/>
                </a:solidFill>
                <a:latin typeface="Georgia"/>
              </a:defRPr>
            </a:pPr>
            <a:r>
              <a:t>AI-Driven Satellite Remote</a:t>
            </a:r>
            <a:br/>
            <a:r>
              <a:t>Sensing for Field-Scale Soil</a:t>
            </a:r>
            <a:br/>
            <a:r>
              <a:t>Nutrient (NPK) and Health</a:t>
            </a:r>
            <a:br/>
            <a:r>
              <a:t>Assessment</a:t>
            </a:r>
          </a:p>
          <a:p>
            <a:pPr>
              <a:spcAft>
                <a:spcPts val="1400"/>
              </a:spcAft>
              <a:defRPr sz="1050">
                <a:solidFill>
                  <a:srgbClr val="6E7370"/>
                </a:solidFill>
                <a:latin typeface="Calibri"/>
              </a:defRPr>
            </a:pPr>
            <a:r>
              <a:t>CAPSTONE ENGINEERING PROJECT PROPOSAL (PHASE 1) — Department of Computer Science &amp; Engineering, Academic Year 2025–2026.</a:t>
            </a:r>
            <a:br/>
            <a:r>
              <a:t>Project Guide: Dr. Pramod T. C. | Team: 4 Specialized Roles (Data Engineering, ML Modeling, Soil Chemistry, Web GIS).</a:t>
            </a:r>
          </a:p>
        </p:txBody>
      </p:sp>
      <p:sp>
        <p:nvSpPr>
          <p:cNvPr id="5" name="Rectangle 4"/>
          <p:cNvSpPr/>
          <p:nvPr/>
        </p:nvSpPr>
        <p:spPr>
          <a:xfrm>
            <a:off x="731520" y="2926080"/>
            <a:ext cx="6309360" cy="18288"/>
          </a:xfrm>
          <a:prstGeom prst="rect">
            <a:avLst/>
          </a:prstGeom>
          <a:solidFill>
            <a:srgbClr val="D7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154680"/>
            <a:ext cx="6492240" cy="3200400"/>
          </a:xfrm>
          <a:prstGeom prst="rect">
            <a:avLst/>
          </a:prstGeom>
          <a:noFill/>
        </p:spPr>
        <p:txBody>
          <a:bodyPr wrap="square" lIns="0" tIns="0" rIns="0" bIns="0">
            <a:spAutoFit/>
          </a:bodyPr>
          <a:lstStyle/>
          <a:p>
            <a:pPr>
              <a:spcAft>
                <a:spcPts val="1200"/>
              </a:spcAft>
            </a:pPr>
            <a:r>
              <a:rPr b="1" sz="1100">
                <a:solidFill>
                  <a:srgbClr val="1C1E1C"/>
                </a:solidFill>
                <a:latin typeface="Calibri"/>
              </a:rPr>
              <a:t>Problem: </a:t>
            </a:r>
            <a:r>
              <a:rPr sz="1050">
                <a:solidFill>
                  <a:srgbClr val="282C2A"/>
                </a:solidFill>
                <a:latin typeface="Calibri"/>
              </a:rPr>
              <a:t>Farmers and agronomists often lack timely, affordable, field-scale visibility into soil nutrient variability, making it difficult to detect NPK deficiencies early and optimize interventions.</a:t>
            </a:r>
          </a:p>
          <a:p>
            <a:pPr>
              <a:spcAft>
                <a:spcPts val="1200"/>
              </a:spcAft>
            </a:pPr>
            <a:r>
              <a:rPr b="1" sz="1100">
                <a:solidFill>
                  <a:srgbClr val="1C1E1C"/>
                </a:solidFill>
                <a:latin typeface="Calibri"/>
              </a:rPr>
              <a:t>Key innovation: </a:t>
            </a:r>
            <a:r>
              <a:rPr sz="1050">
                <a:solidFill>
                  <a:srgbClr val="282C2A"/>
                </a:solidFill>
                <a:latin typeface="Calibri"/>
              </a:rPr>
              <a:t>This project combines Sentinel-2 satellite imagery, geospatial preprocessing, and machine learning to estimate soil NPK status and broader field health indicators from remote sensing signals.</a:t>
            </a:r>
          </a:p>
          <a:p>
            <a:pPr>
              <a:spcAft>
                <a:spcPts val="1200"/>
              </a:spcAft>
            </a:pPr>
            <a:r>
              <a:rPr b="1" sz="1100">
                <a:solidFill>
                  <a:srgbClr val="1C1E1C"/>
                </a:solidFill>
                <a:latin typeface="Calibri"/>
              </a:rPr>
              <a:t>Expected impact: </a:t>
            </a:r>
            <a:r>
              <a:rPr sz="1050">
                <a:solidFill>
                  <a:srgbClr val="282C2A"/>
                </a:solidFill>
                <a:latin typeface="Calibri"/>
              </a:rPr>
              <a:t>The system aims to support faster, data-driven soil management decisions, reduce unnecessary sampling and input use, and improve crop productivity through more precise advisory recommendations.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PROBLEM CONTEXT</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Why This Matters — The Critical Need for Soil Testing</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ge_02_img_01.jpeg"/>
          <p:cNvPicPr>
            <a:picLocks noChangeAspect="1"/>
          </p:cNvPicPr>
          <p:nvPr/>
        </p:nvPicPr>
        <p:blipFill>
          <a:blip r:embed="rId2"/>
          <a:stretch>
            <a:fillRect/>
          </a:stretch>
        </p:blipFill>
        <p:spPr>
          <a:xfrm>
            <a:off x="868680" y="1463040"/>
            <a:ext cx="1691640" cy="1051560"/>
          </a:xfrm>
          <a:prstGeom prst="rect">
            <a:avLst/>
          </a:prstGeom>
        </p:spPr>
      </p:pic>
      <p:sp>
        <p:nvSpPr>
          <p:cNvPr id="8" name="TextBox 7"/>
          <p:cNvSpPr txBox="1"/>
          <p:nvPr/>
        </p:nvSpPr>
        <p:spPr>
          <a:xfrm>
            <a:off x="868680" y="2606040"/>
            <a:ext cx="1691640" cy="685800"/>
          </a:xfrm>
          <a:prstGeom prst="rect">
            <a:avLst/>
          </a:prstGeom>
          <a:noFill/>
        </p:spPr>
        <p:txBody>
          <a:bodyPr wrap="square" lIns="0" tIns="0" rIns="0" bIns="0">
            <a:spAutoFit/>
          </a:bodyPr>
          <a:lstStyle/>
          <a:p>
            <a:pPr>
              <a:defRPr sz="1200" b="1">
                <a:solidFill>
                  <a:srgbClr val="1C1E1C"/>
                </a:solidFill>
                <a:latin typeface="Georgia"/>
              </a:defRPr>
            </a:pPr>
            <a:r>
              <a:t>Soil Drives</a:t>
            </a:r>
            <a:br/>
            <a:r>
              <a:t>Agriculture</a:t>
            </a:r>
          </a:p>
        </p:txBody>
      </p:sp>
      <p:sp>
        <p:nvSpPr>
          <p:cNvPr id="9" name="TextBox 8"/>
          <p:cNvSpPr txBox="1"/>
          <p:nvPr/>
        </p:nvSpPr>
        <p:spPr>
          <a:xfrm>
            <a:off x="868680" y="3337560"/>
            <a:ext cx="1691640" cy="2834640"/>
          </a:xfrm>
          <a:prstGeom prst="rect">
            <a:avLst/>
          </a:prstGeom>
          <a:noFill/>
        </p:spPr>
        <p:txBody>
          <a:bodyPr wrap="square" lIns="0" tIns="0" rIns="0" bIns="0">
            <a:spAutoFit/>
          </a:bodyPr>
          <a:lstStyle/>
          <a:p>
            <a:pPr>
              <a:defRPr sz="1000">
                <a:solidFill>
                  <a:srgbClr val="282C2A"/>
                </a:solidFill>
                <a:latin typeface="Calibri"/>
              </a:defRPr>
            </a:pPr>
            <a:r>
              <a:t>Healthy soil fertility (N, P, K, SOC, pH) directly dictates crop yield, food security, and farm profitability.</a:t>
            </a:r>
            <a:br/>
            <a:br/>
            <a:r>
              <a:t>Precision agriculture shifts practice from blanket fertilization to site-specific variable-rate management.</a:t>
            </a:r>
          </a:p>
        </p:txBody>
      </p:sp>
      <p:sp>
        <p:nvSpPr>
          <p:cNvPr id="10" name="Rounded Rectangle 9"/>
          <p:cNvSpPr/>
          <p:nvPr/>
        </p:nvSpPr>
        <p:spPr>
          <a:xfrm>
            <a:off x="292608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age_02_img_02.jpeg"/>
          <p:cNvPicPr>
            <a:picLocks noChangeAspect="1"/>
          </p:cNvPicPr>
          <p:nvPr/>
        </p:nvPicPr>
        <p:blipFill>
          <a:blip r:embed="rId3"/>
          <a:stretch>
            <a:fillRect/>
          </a:stretch>
        </p:blipFill>
        <p:spPr>
          <a:xfrm>
            <a:off x="3063240" y="1463040"/>
            <a:ext cx="1691640" cy="1051560"/>
          </a:xfrm>
          <a:prstGeom prst="rect">
            <a:avLst/>
          </a:prstGeom>
        </p:spPr>
      </p:pic>
      <p:sp>
        <p:nvSpPr>
          <p:cNvPr id="12" name="TextBox 11"/>
          <p:cNvSpPr txBox="1"/>
          <p:nvPr/>
        </p:nvSpPr>
        <p:spPr>
          <a:xfrm>
            <a:off x="3063240" y="2606040"/>
            <a:ext cx="1691640" cy="685800"/>
          </a:xfrm>
          <a:prstGeom prst="rect">
            <a:avLst/>
          </a:prstGeom>
          <a:noFill/>
        </p:spPr>
        <p:txBody>
          <a:bodyPr wrap="square" lIns="0" tIns="0" rIns="0" bIns="0">
            <a:spAutoFit/>
          </a:bodyPr>
          <a:lstStyle/>
          <a:p>
            <a:pPr>
              <a:defRPr sz="1200" b="1">
                <a:solidFill>
                  <a:srgbClr val="1C1E1C"/>
                </a:solidFill>
                <a:latin typeface="Georgia"/>
              </a:defRPr>
            </a:pPr>
            <a:r>
              <a:t>Smallholder</a:t>
            </a:r>
            <a:br/>
            <a:r>
              <a:t>Constraints</a:t>
            </a:r>
          </a:p>
        </p:txBody>
      </p:sp>
      <p:sp>
        <p:nvSpPr>
          <p:cNvPr id="13" name="TextBox 12"/>
          <p:cNvSpPr txBox="1"/>
          <p:nvPr/>
        </p:nvSpPr>
        <p:spPr>
          <a:xfrm>
            <a:off x="3063240" y="3337560"/>
            <a:ext cx="1691640" cy="2834640"/>
          </a:xfrm>
          <a:prstGeom prst="rect">
            <a:avLst/>
          </a:prstGeom>
          <a:noFill/>
        </p:spPr>
        <p:txBody>
          <a:bodyPr wrap="square" lIns="0" tIns="0" rIns="0" bIns="0">
            <a:spAutoFit/>
          </a:bodyPr>
          <a:lstStyle/>
          <a:p>
            <a:pPr>
              <a:defRPr sz="1000">
                <a:solidFill>
                  <a:srgbClr val="282C2A"/>
                </a:solidFill>
                <a:latin typeface="Calibri"/>
              </a:defRPr>
            </a:pPr>
            <a:r>
              <a:t>Less than 15% of farmers regularly test soil due to long turnaround (2-4 weeks), lab inaccessibility, and high per-sample costs—creating a pressing need for low-cost, rapid alternatives.</a:t>
            </a:r>
          </a:p>
        </p:txBody>
      </p:sp>
      <p:sp>
        <p:nvSpPr>
          <p:cNvPr id="14" name="Rounded Rectangle 13"/>
          <p:cNvSpPr/>
          <p:nvPr/>
        </p:nvSpPr>
        <p:spPr>
          <a:xfrm>
            <a:off x="512064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age_02_img_03.jpeg"/>
          <p:cNvPicPr>
            <a:picLocks noChangeAspect="1"/>
          </p:cNvPicPr>
          <p:nvPr/>
        </p:nvPicPr>
        <p:blipFill>
          <a:blip r:embed="rId4"/>
          <a:stretch>
            <a:fillRect/>
          </a:stretch>
        </p:blipFill>
        <p:spPr>
          <a:xfrm>
            <a:off x="5257800" y="1463040"/>
            <a:ext cx="1691640" cy="1051560"/>
          </a:xfrm>
          <a:prstGeom prst="rect">
            <a:avLst/>
          </a:prstGeom>
        </p:spPr>
      </p:pic>
      <p:sp>
        <p:nvSpPr>
          <p:cNvPr id="16" name="TextBox 15"/>
          <p:cNvSpPr txBox="1"/>
          <p:nvPr/>
        </p:nvSpPr>
        <p:spPr>
          <a:xfrm>
            <a:off x="5257800" y="2606040"/>
            <a:ext cx="1691640" cy="685800"/>
          </a:xfrm>
          <a:prstGeom prst="rect">
            <a:avLst/>
          </a:prstGeom>
          <a:noFill/>
        </p:spPr>
        <p:txBody>
          <a:bodyPr wrap="square" lIns="0" tIns="0" rIns="0" bIns="0">
            <a:spAutoFit/>
          </a:bodyPr>
          <a:lstStyle/>
          <a:p>
            <a:pPr>
              <a:defRPr sz="1200" b="1">
                <a:solidFill>
                  <a:srgbClr val="1C1E1C"/>
                </a:solidFill>
                <a:latin typeface="Georgia"/>
              </a:defRPr>
            </a:pPr>
            <a:r>
              <a:t>Economic Impact of</a:t>
            </a:r>
            <a:br/>
            <a:r>
              <a:t>Soil Degradation</a:t>
            </a:r>
          </a:p>
        </p:txBody>
      </p:sp>
      <p:sp>
        <p:nvSpPr>
          <p:cNvPr id="17" name="TextBox 16"/>
          <p:cNvSpPr txBox="1"/>
          <p:nvPr/>
        </p:nvSpPr>
        <p:spPr>
          <a:xfrm>
            <a:off x="5257800" y="3337560"/>
            <a:ext cx="1691640" cy="2834640"/>
          </a:xfrm>
          <a:prstGeom prst="rect">
            <a:avLst/>
          </a:prstGeom>
          <a:noFill/>
        </p:spPr>
        <p:txBody>
          <a:bodyPr wrap="square" lIns="0" tIns="0" rIns="0" bIns="0">
            <a:spAutoFit/>
          </a:bodyPr>
          <a:lstStyle/>
          <a:p>
            <a:pPr>
              <a:defRPr sz="1000">
                <a:solidFill>
                  <a:srgbClr val="282C2A"/>
                </a:solidFill>
                <a:latin typeface="Calibri"/>
              </a:defRPr>
            </a:pPr>
            <a:r>
              <a:t>Soil nutrient depletion, erosion, and pH imbalance reduce yields, increase fertilizer waste, and raise production costs.</a:t>
            </a:r>
            <a:br/>
            <a:br/>
            <a:r>
              <a:t>Without testing, farmers overapply in some zones while starving others.</a:t>
            </a:r>
          </a:p>
        </p:txBody>
      </p:sp>
      <p:sp>
        <p:nvSpPr>
          <p:cNvPr id="18" name="Rounded Rectangle 17"/>
          <p:cNvSpPr/>
          <p:nvPr/>
        </p:nvSpPr>
        <p:spPr>
          <a:xfrm>
            <a:off x="731520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ge_02_img_04.jpeg"/>
          <p:cNvPicPr>
            <a:picLocks noChangeAspect="1"/>
          </p:cNvPicPr>
          <p:nvPr/>
        </p:nvPicPr>
        <p:blipFill>
          <a:blip r:embed="rId5"/>
          <a:stretch>
            <a:fillRect/>
          </a:stretch>
        </p:blipFill>
        <p:spPr>
          <a:xfrm>
            <a:off x="7452360" y="1463040"/>
            <a:ext cx="1691640" cy="1051560"/>
          </a:xfrm>
          <a:prstGeom prst="rect">
            <a:avLst/>
          </a:prstGeom>
        </p:spPr>
      </p:pic>
      <p:sp>
        <p:nvSpPr>
          <p:cNvPr id="20" name="TextBox 19"/>
          <p:cNvSpPr txBox="1"/>
          <p:nvPr/>
        </p:nvSpPr>
        <p:spPr>
          <a:xfrm>
            <a:off x="7452360" y="2606040"/>
            <a:ext cx="1691640" cy="685800"/>
          </a:xfrm>
          <a:prstGeom prst="rect">
            <a:avLst/>
          </a:prstGeom>
          <a:noFill/>
        </p:spPr>
        <p:txBody>
          <a:bodyPr wrap="square" lIns="0" tIns="0" rIns="0" bIns="0">
            <a:spAutoFit/>
          </a:bodyPr>
          <a:lstStyle/>
          <a:p>
            <a:pPr>
              <a:defRPr sz="1200" b="1">
                <a:solidFill>
                  <a:srgbClr val="1C1E1C"/>
                </a:solidFill>
                <a:latin typeface="Georgia"/>
              </a:defRPr>
            </a:pPr>
            <a:r>
              <a:t>Climate Resilience</a:t>
            </a:r>
            <a:br/>
            <a:r>
              <a:t>Through Soil Health</a:t>
            </a:r>
          </a:p>
        </p:txBody>
      </p:sp>
      <p:sp>
        <p:nvSpPr>
          <p:cNvPr id="21" name="TextBox 20"/>
          <p:cNvSpPr txBox="1"/>
          <p:nvPr/>
        </p:nvSpPr>
        <p:spPr>
          <a:xfrm>
            <a:off x="7452360" y="3337560"/>
            <a:ext cx="1691640" cy="2834640"/>
          </a:xfrm>
          <a:prstGeom prst="rect">
            <a:avLst/>
          </a:prstGeom>
          <a:noFill/>
        </p:spPr>
        <p:txBody>
          <a:bodyPr wrap="square" lIns="0" tIns="0" rIns="0" bIns="0">
            <a:spAutoFit/>
          </a:bodyPr>
          <a:lstStyle/>
          <a:p>
            <a:pPr>
              <a:defRPr sz="1000">
                <a:solidFill>
                  <a:srgbClr val="282C2A"/>
                </a:solidFill>
                <a:latin typeface="Calibri"/>
              </a:defRPr>
            </a:pPr>
            <a:r>
              <a:t>Well-managed soils retain more moisture, support stronger root systems, and buffer crops against drought, heavy rain, and temperature stress.</a:t>
            </a:r>
            <a:br/>
            <a:br/>
            <a:r>
              <a:t>Testing helps protect organic matter season after season.</a:t>
            </a:r>
          </a:p>
        </p:txBody>
      </p:sp>
      <p:sp>
        <p:nvSpPr>
          <p:cNvPr id="22" name="Rounded Rectangle 21"/>
          <p:cNvSpPr/>
          <p:nvPr/>
        </p:nvSpPr>
        <p:spPr>
          <a:xfrm>
            <a:off x="950976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age_02_img_05.jpeg"/>
          <p:cNvPicPr>
            <a:picLocks noChangeAspect="1"/>
          </p:cNvPicPr>
          <p:nvPr/>
        </p:nvPicPr>
        <p:blipFill>
          <a:blip r:embed="rId6"/>
          <a:stretch>
            <a:fillRect/>
          </a:stretch>
        </p:blipFill>
        <p:spPr>
          <a:xfrm>
            <a:off x="9646920" y="1463040"/>
            <a:ext cx="1691640" cy="1051560"/>
          </a:xfrm>
          <a:prstGeom prst="rect">
            <a:avLst/>
          </a:prstGeom>
        </p:spPr>
      </p:pic>
      <p:sp>
        <p:nvSpPr>
          <p:cNvPr id="24" name="TextBox 23"/>
          <p:cNvSpPr txBox="1"/>
          <p:nvPr/>
        </p:nvSpPr>
        <p:spPr>
          <a:xfrm>
            <a:off x="9646920" y="2606040"/>
            <a:ext cx="1691640" cy="685800"/>
          </a:xfrm>
          <a:prstGeom prst="rect">
            <a:avLst/>
          </a:prstGeom>
          <a:noFill/>
        </p:spPr>
        <p:txBody>
          <a:bodyPr wrap="square" lIns="0" tIns="0" rIns="0" bIns="0">
            <a:spAutoFit/>
          </a:bodyPr>
          <a:lstStyle/>
          <a:p>
            <a:pPr>
              <a:defRPr sz="1200" b="1">
                <a:solidFill>
                  <a:srgbClr val="1C1E1C"/>
                </a:solidFill>
                <a:latin typeface="Georgia"/>
              </a:defRPr>
            </a:pPr>
            <a:r>
              <a:t>Precision</a:t>
            </a:r>
            <a:br/>
            <a:r>
              <a:t>Agriculture ROI</a:t>
            </a:r>
          </a:p>
        </p:txBody>
      </p:sp>
      <p:sp>
        <p:nvSpPr>
          <p:cNvPr id="25" name="TextBox 24"/>
          <p:cNvSpPr txBox="1"/>
          <p:nvPr/>
        </p:nvSpPr>
        <p:spPr>
          <a:xfrm>
            <a:off x="9646920" y="3337560"/>
            <a:ext cx="1691640" cy="2834640"/>
          </a:xfrm>
          <a:prstGeom prst="rect">
            <a:avLst/>
          </a:prstGeom>
          <a:noFill/>
        </p:spPr>
        <p:txBody>
          <a:bodyPr wrap="square" lIns="0" tIns="0" rIns="0" bIns="0">
            <a:spAutoFit/>
          </a:bodyPr>
          <a:lstStyle/>
          <a:p>
            <a:pPr>
              <a:defRPr sz="1000">
                <a:solidFill>
                  <a:srgbClr val="282C2A"/>
                </a:solidFill>
                <a:latin typeface="Calibri"/>
              </a:defRPr>
            </a:pPr>
            <a:r>
              <a:t>Targeted nutrient application improves input efficiency, reduces unnecessary fertilizer spend, and increases yield consistency.</a:t>
            </a:r>
            <a:br/>
            <a:br/>
            <a:r>
              <a:t>Soil testing provides the data foundation for viable precision agriculture.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SYSTEM OVERVIEW</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Proposed Solution — Remote Sensing + Chemometrics + AI</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TextBox 5"/>
          <p:cNvSpPr txBox="1"/>
          <p:nvPr/>
        </p:nvSpPr>
        <p:spPr>
          <a:xfrm>
            <a:off x="731520" y="1325880"/>
            <a:ext cx="6035040" cy="3383280"/>
          </a:xfrm>
          <a:prstGeom prst="rect">
            <a:avLst/>
          </a:prstGeom>
          <a:noFill/>
        </p:spPr>
        <p:txBody>
          <a:bodyPr wrap="square" lIns="0" tIns="0" rIns="0" bIns="0">
            <a:spAutoFit/>
          </a:bodyPr>
          <a:lstStyle/>
          <a:p>
            <a:pPr>
              <a:spcAft>
                <a:spcPts val="1000"/>
              </a:spcAft>
              <a:defRPr sz="1100">
                <a:solidFill>
                  <a:srgbClr val="282C2A"/>
                </a:solidFill>
                <a:latin typeface="Calibri"/>
              </a:defRPr>
            </a:pPr>
            <a:r>
              <a:t>We combine ESA Copernicus Sentinel-2 multispectral satellite imagery with chemometric feature engineering and AI regression to estimate soil properties without physical sampling at every point. Sentinel-2 captures reflected light across visible, red-edge, near-infrared, and short-wave infrared bands at 10–20 m spatial resolution with a 5-day revisit cycle.</a:t>
            </a:r>
          </a:p>
          <a:p>
            <a:pPr>
              <a:spcAft>
                <a:spcPts val="1000"/>
              </a:spcAft>
              <a:defRPr sz="1100">
                <a:solidFill>
                  <a:srgbClr val="282C2A"/>
                </a:solidFill>
                <a:latin typeface="Calibri"/>
              </a:defRPr>
            </a:pPr>
            <a:r>
              <a:t>Chemometrics means extracting quantitative, physically meaningful predictors from spectral data. Instead of using raw pixels alone, we derive indices and band ratios sensitive to soil background, moisture, organic matter, and clay/mineral composition. Key features include BSI (Bare Soil Index), NDRE (Normalized Difference Red Edge), and Clay Ratio (B11/B12).</a:t>
            </a:r>
          </a:p>
          <a:p>
            <a:pPr>
              <a:defRPr sz="1100">
                <a:solidFill>
                  <a:srgbClr val="282C2A"/>
                </a:solidFill>
                <a:latin typeface="Calibri"/>
              </a:defRPr>
            </a:pPr>
            <a:r>
              <a:t>The AI layer uses supervised regression models such as XGBoost and LightGBM. These models learn the mapping from spectral features and indices to ground-truth soil chemistry measurements, predicting continuous nutrient values to produce high-resolution 2D fertility heatmaps and variable-rate fertilizer schedules.</a:t>
            </a:r>
          </a:p>
        </p:txBody>
      </p:sp>
      <p:pic>
        <p:nvPicPr>
          <p:cNvPr id="7" name="Picture 6" descr="page_03_img_01.jpeg"/>
          <p:cNvPicPr>
            <a:picLocks noChangeAspect="1"/>
          </p:cNvPicPr>
          <p:nvPr/>
        </p:nvPicPr>
        <p:blipFill>
          <a:blip r:embed="rId2"/>
          <a:stretch>
            <a:fillRect/>
          </a:stretch>
        </p:blipFill>
        <p:spPr>
          <a:xfrm>
            <a:off x="7040880" y="1325880"/>
            <a:ext cx="4389120" cy="3291840"/>
          </a:xfrm>
          <a:prstGeom prst="rect">
            <a:avLst/>
          </a:prstGeom>
        </p:spPr>
      </p:pic>
      <p:sp>
        <p:nvSpPr>
          <p:cNvPr id="8" name="Rounded Rectangle 7"/>
          <p:cNvSpPr/>
          <p:nvPr/>
        </p:nvSpPr>
        <p:spPr>
          <a:xfrm>
            <a:off x="731520" y="4892040"/>
            <a:ext cx="2240280" cy="155448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892040"/>
            <a:ext cx="109728" cy="1554480"/>
          </a:xfrm>
          <a:prstGeom prst="round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983480"/>
            <a:ext cx="1874519" cy="1371600"/>
          </a:xfrm>
          <a:prstGeom prst="rect">
            <a:avLst/>
          </a:prstGeom>
          <a:noFill/>
        </p:spPr>
        <p:txBody>
          <a:bodyPr wrap="square" lIns="0" tIns="0" rIns="0" bIns="0">
            <a:spAutoFit/>
          </a:bodyPr>
          <a:lstStyle/>
          <a:p>
            <a:pPr>
              <a:spcAft>
                <a:spcPts val="400"/>
              </a:spcAft>
              <a:defRPr sz="1150" b="1">
                <a:solidFill>
                  <a:srgbClr val="1C1E1C"/>
                </a:solidFill>
                <a:latin typeface="Georgia"/>
              </a:defRPr>
            </a:pPr>
            <a:r>
              <a:t>Sentinel-2 Data</a:t>
            </a:r>
          </a:p>
          <a:p>
            <a:pPr>
              <a:defRPr sz="950">
                <a:solidFill>
                  <a:srgbClr val="282C2A"/>
                </a:solidFill>
                <a:latin typeface="Calibri"/>
              </a:defRPr>
            </a:pPr>
            <a:r>
              <a:t>Multispectral imagery provides repeatable field coverage across visible, red-edge, NIR, and SWIR bands.</a:t>
            </a:r>
          </a:p>
        </p:txBody>
      </p:sp>
      <p:sp>
        <p:nvSpPr>
          <p:cNvPr id="11" name="Rounded Rectangle 10"/>
          <p:cNvSpPr/>
          <p:nvPr/>
        </p:nvSpPr>
        <p:spPr>
          <a:xfrm>
            <a:off x="3566160" y="4892040"/>
            <a:ext cx="2240280" cy="155448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66160" y="4892040"/>
            <a:ext cx="109728" cy="1554480"/>
          </a:xfrm>
          <a:prstGeom prst="round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4760" y="4983480"/>
            <a:ext cx="1874519" cy="1371600"/>
          </a:xfrm>
          <a:prstGeom prst="rect">
            <a:avLst/>
          </a:prstGeom>
          <a:noFill/>
        </p:spPr>
        <p:txBody>
          <a:bodyPr wrap="square" lIns="0" tIns="0" rIns="0" bIns="0">
            <a:spAutoFit/>
          </a:bodyPr>
          <a:lstStyle/>
          <a:p>
            <a:pPr>
              <a:spcAft>
                <a:spcPts val="400"/>
              </a:spcAft>
              <a:defRPr sz="1150" b="1">
                <a:solidFill>
                  <a:srgbClr val="1C1E1C"/>
                </a:solidFill>
                <a:latin typeface="Georgia"/>
              </a:defRPr>
            </a:pPr>
            <a:r>
              <a:t>Chemometric Features</a:t>
            </a:r>
          </a:p>
          <a:p>
            <a:pPr>
              <a:defRPr sz="950">
                <a:solidFill>
                  <a:srgbClr val="282C2A"/>
                </a:solidFill>
                <a:latin typeface="Calibri"/>
              </a:defRPr>
            </a:pPr>
            <a:r>
              <a:t>Engineered indices such as BSI, NDRE, and Clay Ratio convert raw reflectance into soil-relevant predictors.</a:t>
            </a:r>
          </a:p>
        </p:txBody>
      </p:sp>
      <p:sp>
        <p:nvSpPr>
          <p:cNvPr id="14" name="Rounded Rectangle 13"/>
          <p:cNvSpPr/>
          <p:nvPr/>
        </p:nvSpPr>
        <p:spPr>
          <a:xfrm>
            <a:off x="6400800" y="4892040"/>
            <a:ext cx="2240280" cy="155448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0" y="4892040"/>
            <a:ext cx="109728" cy="1554480"/>
          </a:xfrm>
          <a:prstGeom prst="round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983480"/>
            <a:ext cx="1874519" cy="1371600"/>
          </a:xfrm>
          <a:prstGeom prst="rect">
            <a:avLst/>
          </a:prstGeom>
          <a:noFill/>
        </p:spPr>
        <p:txBody>
          <a:bodyPr wrap="square" lIns="0" tIns="0" rIns="0" bIns="0">
            <a:spAutoFit/>
          </a:bodyPr>
          <a:lstStyle/>
          <a:p>
            <a:pPr>
              <a:spcAft>
                <a:spcPts val="400"/>
              </a:spcAft>
              <a:defRPr sz="1150" b="1">
                <a:solidFill>
                  <a:srgbClr val="1C1E1C"/>
                </a:solidFill>
                <a:latin typeface="Georgia"/>
              </a:defRPr>
            </a:pPr>
            <a:r>
              <a:t>AI Regression</a:t>
            </a:r>
          </a:p>
          <a:p>
            <a:pPr>
              <a:defRPr sz="950">
                <a:solidFill>
                  <a:srgbClr val="282C2A"/>
                </a:solidFill>
                <a:latin typeface="Calibri"/>
              </a:defRPr>
            </a:pPr>
            <a:r>
              <a:t>XGBoost / LightGBM learn nonlinear relationships between spectral features and laboratory measurements.</a:t>
            </a:r>
          </a:p>
        </p:txBody>
      </p:sp>
      <p:sp>
        <p:nvSpPr>
          <p:cNvPr id="17" name="Rounded Rectangle 16"/>
          <p:cNvSpPr/>
          <p:nvPr/>
        </p:nvSpPr>
        <p:spPr>
          <a:xfrm>
            <a:off x="9235440" y="4892040"/>
            <a:ext cx="2240280" cy="155448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235440" y="4892040"/>
            <a:ext cx="109728" cy="1554480"/>
          </a:xfrm>
          <a:prstGeom prst="round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4983480"/>
            <a:ext cx="1874519" cy="1371600"/>
          </a:xfrm>
          <a:prstGeom prst="rect">
            <a:avLst/>
          </a:prstGeom>
          <a:noFill/>
        </p:spPr>
        <p:txBody>
          <a:bodyPr wrap="square" lIns="0" tIns="0" rIns="0" bIns="0">
            <a:spAutoFit/>
          </a:bodyPr>
          <a:lstStyle/>
          <a:p>
            <a:pPr>
              <a:spcAft>
                <a:spcPts val="400"/>
              </a:spcAft>
              <a:defRPr sz="1150" b="1">
                <a:solidFill>
                  <a:srgbClr val="1C1E1C"/>
                </a:solidFill>
                <a:latin typeface="Georgia"/>
              </a:defRPr>
            </a:pPr>
            <a:r>
              <a:t>Decision Outputs</a:t>
            </a:r>
          </a:p>
          <a:p>
            <a:pPr>
              <a:defRPr sz="950">
                <a:solidFill>
                  <a:srgbClr val="282C2A"/>
                </a:solidFill>
                <a:latin typeface="Calibri"/>
              </a:defRPr>
            </a:pPr>
            <a:r>
              <a:t>Predictions are turned into fertility heatmaps and prescription layers for precision agriculture.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LITERATURE SURVEY (1/3)</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Literature Foundations — Data Engineering &amp; Soil Spectroscopy</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ge_04_img_01.jpeg"/>
          <p:cNvPicPr>
            <a:picLocks noChangeAspect="1"/>
          </p:cNvPicPr>
          <p:nvPr/>
        </p:nvPicPr>
        <p:blipFill>
          <a:blip r:embed="rId2"/>
          <a:stretch>
            <a:fillRect/>
          </a:stretch>
        </p:blipFill>
        <p:spPr>
          <a:xfrm>
            <a:off x="868680" y="1463040"/>
            <a:ext cx="1691640" cy="1051560"/>
          </a:xfrm>
          <a:prstGeom prst="rect">
            <a:avLst/>
          </a:prstGeom>
        </p:spPr>
      </p:pic>
      <p:sp>
        <p:nvSpPr>
          <p:cNvPr id="8" name="TextBox 7"/>
          <p:cNvSpPr txBox="1"/>
          <p:nvPr/>
        </p:nvSpPr>
        <p:spPr>
          <a:xfrm>
            <a:off x="86868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Sentinel-2 for Soil Mapping</a:t>
            </a:r>
          </a:p>
          <a:p>
            <a:pPr>
              <a:spcAft>
                <a:spcPts val="800"/>
              </a:spcAft>
              <a:defRPr sz="950">
                <a:solidFill>
                  <a:srgbClr val="282C2A"/>
                </a:solidFill>
                <a:latin typeface="Calibri"/>
              </a:defRPr>
            </a:pPr>
            <a:r>
              <a:t>Castaldi et al. (2019) and Gholizadeh et al. (2021) demonstrate Sentinel-2 multispectral fidelity and multi-temporal compositing effectively map topsoil properties and cancel ephemeral noise.</a:t>
            </a:r>
          </a:p>
          <a:p>
            <a:r>
              <a:rPr sz="950" b="1">
                <a:solidFill>
                  <a:srgbClr val="1864B9"/>
                </a:solidFill>
                <a:latin typeface="Calibri"/>
                <a:hlinkClick r:id="rId3"/>
              </a:rPr>
              <a:t>[🔗 View Paper / DOI]</a:t>
            </a:r>
          </a:p>
        </p:txBody>
      </p:sp>
      <p:sp>
        <p:nvSpPr>
          <p:cNvPr id="9" name="Rounded Rectangle 8"/>
          <p:cNvSpPr/>
          <p:nvPr/>
        </p:nvSpPr>
        <p:spPr>
          <a:xfrm>
            <a:off x="292608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ge_04_img_02.jpeg"/>
          <p:cNvPicPr>
            <a:picLocks noChangeAspect="1"/>
          </p:cNvPicPr>
          <p:nvPr/>
        </p:nvPicPr>
        <p:blipFill>
          <a:blip r:embed="rId4"/>
          <a:stretch>
            <a:fillRect/>
          </a:stretch>
        </p:blipFill>
        <p:spPr>
          <a:xfrm>
            <a:off x="3063240" y="1463040"/>
            <a:ext cx="1691640" cy="1051560"/>
          </a:xfrm>
          <a:prstGeom prst="rect">
            <a:avLst/>
          </a:prstGeom>
        </p:spPr>
      </p:pic>
      <p:sp>
        <p:nvSpPr>
          <p:cNvPr id="11" name="TextBox 10"/>
          <p:cNvSpPr txBox="1"/>
          <p:nvPr/>
        </p:nvSpPr>
        <p:spPr>
          <a:xfrm>
            <a:off x="306324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Spectral Libraries</a:t>
            </a:r>
          </a:p>
          <a:p>
            <a:pPr>
              <a:spcAft>
                <a:spcPts val="800"/>
              </a:spcAft>
              <a:defRPr sz="950">
                <a:solidFill>
                  <a:srgbClr val="282C2A"/>
                </a:solidFill>
                <a:latin typeface="Calibri"/>
              </a:defRPr>
            </a:pPr>
            <a:r>
              <a:t>Demattê et al. (2018) and Dotto et al. (2018) characterize absorption overtones for clay, organic matter, and moisture; fusing spectral data with terrain/climate improves P and K prediction.</a:t>
            </a:r>
          </a:p>
          <a:p>
            <a:r>
              <a:rPr sz="950" b="1">
                <a:solidFill>
                  <a:srgbClr val="1864B9"/>
                </a:solidFill>
                <a:latin typeface="Calibri"/>
                <a:hlinkClick r:id="rId5"/>
              </a:rPr>
              <a:t>[🔗 View Paper / DOI]</a:t>
            </a:r>
          </a:p>
        </p:txBody>
      </p:sp>
      <p:sp>
        <p:nvSpPr>
          <p:cNvPr id="12" name="Rounded Rectangle 11"/>
          <p:cNvSpPr/>
          <p:nvPr/>
        </p:nvSpPr>
        <p:spPr>
          <a:xfrm>
            <a:off x="512064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age_04_img_03.jpeg"/>
          <p:cNvPicPr>
            <a:picLocks noChangeAspect="1"/>
          </p:cNvPicPr>
          <p:nvPr/>
        </p:nvPicPr>
        <p:blipFill>
          <a:blip r:embed="rId6"/>
          <a:stretch>
            <a:fillRect/>
          </a:stretch>
        </p:blipFill>
        <p:spPr>
          <a:xfrm>
            <a:off x="5257800" y="1463040"/>
            <a:ext cx="1691640" cy="1051560"/>
          </a:xfrm>
          <a:prstGeom prst="rect">
            <a:avLst/>
          </a:prstGeom>
        </p:spPr>
      </p:pic>
      <p:sp>
        <p:nvSpPr>
          <p:cNvPr id="14" name="TextBox 13"/>
          <p:cNvSpPr txBox="1"/>
          <p:nvPr/>
        </p:nvSpPr>
        <p:spPr>
          <a:xfrm>
            <a:off x="525780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Soil Moisture Effects</a:t>
            </a:r>
          </a:p>
          <a:p>
            <a:pPr>
              <a:spcAft>
                <a:spcPts val="800"/>
              </a:spcAft>
              <a:defRPr sz="950">
                <a:solidFill>
                  <a:srgbClr val="282C2A"/>
                </a:solidFill>
                <a:latin typeface="Calibri"/>
              </a:defRPr>
            </a:pPr>
            <a:r>
              <a:t>Piccoli et al. (2023) show moisture strongly suppresses reflectance, especially in visible and NIR. Requires moisture-aware preprocessing and stratified modeling across soil moisture regimes.</a:t>
            </a:r>
          </a:p>
          <a:p>
            <a:r>
              <a:rPr sz="950" b="1">
                <a:solidFill>
                  <a:srgbClr val="1864B9"/>
                </a:solidFill>
                <a:latin typeface="Calibri"/>
                <a:hlinkClick r:id="rId7"/>
              </a:rPr>
              <a:t>[🔗 View Paper / DOI]</a:t>
            </a:r>
          </a:p>
        </p:txBody>
      </p:sp>
      <p:sp>
        <p:nvSpPr>
          <p:cNvPr id="15" name="Rounded Rectangle 14"/>
          <p:cNvSpPr/>
          <p:nvPr/>
        </p:nvSpPr>
        <p:spPr>
          <a:xfrm>
            <a:off x="731520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age_04_img_04.jpeg"/>
          <p:cNvPicPr>
            <a:picLocks noChangeAspect="1"/>
          </p:cNvPicPr>
          <p:nvPr/>
        </p:nvPicPr>
        <p:blipFill>
          <a:blip r:embed="rId8"/>
          <a:stretch>
            <a:fillRect/>
          </a:stretch>
        </p:blipFill>
        <p:spPr>
          <a:xfrm>
            <a:off x="7452360" y="1463040"/>
            <a:ext cx="1691640" cy="1051560"/>
          </a:xfrm>
          <a:prstGeom prst="rect">
            <a:avLst/>
          </a:prstGeom>
        </p:spPr>
      </p:pic>
      <p:sp>
        <p:nvSpPr>
          <p:cNvPr id="17" name="TextBox 16"/>
          <p:cNvSpPr txBox="1"/>
          <p:nvPr/>
        </p:nvSpPr>
        <p:spPr>
          <a:xfrm>
            <a:off x="745236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Temporal Compositing</a:t>
            </a:r>
          </a:p>
          <a:p>
            <a:pPr>
              <a:spcAft>
                <a:spcPts val="800"/>
              </a:spcAft>
              <a:defRPr sz="950">
                <a:solidFill>
                  <a:srgbClr val="282C2A"/>
                </a:solidFill>
                <a:latin typeface="Calibri"/>
              </a:defRPr>
            </a:pPr>
            <a:r>
              <a:t>Recent studies compare median and percentile-based seasonal composites to build cleaner inputs, reducing atmospheric noise and residue while preserving true soil signals.</a:t>
            </a:r>
          </a:p>
          <a:p>
            <a:r>
              <a:rPr sz="950" b="1">
                <a:solidFill>
                  <a:srgbClr val="1864B9"/>
                </a:solidFill>
                <a:latin typeface="Calibri"/>
                <a:hlinkClick r:id="rId9"/>
              </a:rPr>
              <a:t>[🔗 View Paper / DOI]</a:t>
            </a:r>
          </a:p>
        </p:txBody>
      </p:sp>
      <p:sp>
        <p:nvSpPr>
          <p:cNvPr id="18" name="Rounded Rectangle 17"/>
          <p:cNvSpPr/>
          <p:nvPr/>
        </p:nvSpPr>
        <p:spPr>
          <a:xfrm>
            <a:off x="950976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ge_04_img_05.png"/>
          <p:cNvPicPr>
            <a:picLocks noChangeAspect="1"/>
          </p:cNvPicPr>
          <p:nvPr/>
        </p:nvPicPr>
        <p:blipFill>
          <a:blip r:embed="rId10"/>
          <a:stretch>
            <a:fillRect/>
          </a:stretch>
        </p:blipFill>
        <p:spPr>
          <a:xfrm>
            <a:off x="9646920" y="1463040"/>
            <a:ext cx="1691640" cy="1051560"/>
          </a:xfrm>
          <a:prstGeom prst="rect">
            <a:avLst/>
          </a:prstGeom>
        </p:spPr>
      </p:pic>
      <p:sp>
        <p:nvSpPr>
          <p:cNvPr id="20" name="TextBox 19"/>
          <p:cNvSpPr txBox="1"/>
          <p:nvPr/>
        </p:nvSpPr>
        <p:spPr>
          <a:xfrm>
            <a:off x="964692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Validation Methodology</a:t>
            </a:r>
          </a:p>
          <a:p>
            <a:pPr>
              <a:spcAft>
                <a:spcPts val="800"/>
              </a:spcAft>
              <a:defRPr sz="950">
                <a:solidFill>
                  <a:srgbClr val="282C2A"/>
                </a:solidFill>
                <a:latin typeface="Calibri"/>
              </a:defRPr>
            </a:pPr>
            <a:r>
              <a:t>Recent work emphasizes rigorous validation: spatial blocking and independent holdouts to avoid spatial autocorrelation that falsely inflates accuracy in naive random splits.</a:t>
            </a:r>
          </a:p>
          <a:p>
            <a:r>
              <a:rPr sz="950" b="1">
                <a:solidFill>
                  <a:srgbClr val="1864B9"/>
                </a:solidFill>
                <a:latin typeface="Calibri"/>
                <a:hlinkClick r:id="rId11"/>
              </a:rPr>
              <a:t>[🔗 View Paper / DOI]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LITERATURE SURVEY (2/3)</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Literature Foundations — Machine Learning &amp; Spatial Modeling</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5212080" cy="150876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53895"/>
            <a:ext cx="365760" cy="365760"/>
          </a:xfrm>
          <a:prstGeom prst="rect">
            <a:avLst/>
          </a:prstGeom>
          <a:noFill/>
        </p:spPr>
        <p:txBody>
          <a:bodyPr wrap="none" lIns="0" tIns="0" rIns="0" bIns="0">
            <a:spAutoFit/>
          </a:bodyPr>
          <a:lstStyle/>
          <a:p>
            <a:pPr>
              <a:defRPr sz="1400"/>
            </a:pPr>
            <a:r>
              <a:t>🌲</a:t>
            </a:r>
          </a:p>
        </p:txBody>
      </p:sp>
      <p:sp>
        <p:nvSpPr>
          <p:cNvPr id="8" name="TextBox 7"/>
          <p:cNvSpPr txBox="1"/>
          <p:nvPr/>
        </p:nvSpPr>
        <p:spPr>
          <a:xfrm>
            <a:off x="1280160" y="1453895"/>
            <a:ext cx="4480560" cy="1280160"/>
          </a:xfrm>
          <a:prstGeom prst="rect">
            <a:avLst/>
          </a:prstGeom>
          <a:noFill/>
        </p:spPr>
        <p:txBody>
          <a:bodyPr wrap="square" lIns="0" tIns="0" rIns="0" bIns="0">
            <a:spAutoFit/>
          </a:bodyPr>
          <a:lstStyle/>
          <a:p>
            <a:pPr>
              <a:spcAft>
                <a:spcPts val="300"/>
              </a:spcAft>
              <a:defRPr sz="1200" b="1">
                <a:solidFill>
                  <a:srgbClr val="1C1E1C"/>
                </a:solidFill>
                <a:latin typeface="Georgia"/>
              </a:defRPr>
            </a:pPr>
            <a:r>
              <a:t>Ensemble Models Lead</a:t>
            </a:r>
          </a:p>
          <a:p>
            <a:pPr>
              <a:defRPr sz="950">
                <a:solidFill>
                  <a:srgbClr val="282C2A"/>
                </a:solidFill>
                <a:latin typeface="Calibri"/>
              </a:defRPr>
            </a:pPr>
            <a:r>
              <a:t>Kammerlander et al. (2025) and Vohland et al. (2018) benchmark tree-based ensembles (Random Forest, XGBoost), demonstrating they outperform neural nets on tabular spectral data when properly engineered. </a:t>
            </a:r>
            <a:r>
              <a:rPr b="1">
                <a:solidFill>
                  <a:srgbClr val="1864B9"/>
                </a:solidFill>
                <a:latin typeface="Calibri"/>
                <a:hlinkClick r:id="rId2"/>
              </a:rPr>
              <a:t>[🔗 View Paper]</a:t>
            </a:r>
          </a:p>
        </p:txBody>
      </p:sp>
      <p:sp>
        <p:nvSpPr>
          <p:cNvPr id="9" name="Rounded Rectangle 8"/>
          <p:cNvSpPr/>
          <p:nvPr/>
        </p:nvSpPr>
        <p:spPr>
          <a:xfrm>
            <a:off x="6217920" y="1325880"/>
            <a:ext cx="5212080" cy="150876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453895"/>
            <a:ext cx="365760" cy="365760"/>
          </a:xfrm>
          <a:prstGeom prst="rect">
            <a:avLst/>
          </a:prstGeom>
          <a:noFill/>
        </p:spPr>
        <p:txBody>
          <a:bodyPr wrap="none" lIns="0" tIns="0" rIns="0" bIns="0">
            <a:spAutoFit/>
          </a:bodyPr>
          <a:lstStyle/>
          <a:p>
            <a:pPr>
              <a:defRPr sz="1400"/>
            </a:pPr>
            <a:r>
              <a:t>📋</a:t>
            </a:r>
          </a:p>
        </p:txBody>
      </p:sp>
      <p:sp>
        <p:nvSpPr>
          <p:cNvPr id="11" name="TextBox 10"/>
          <p:cNvSpPr txBox="1"/>
          <p:nvPr/>
        </p:nvSpPr>
        <p:spPr>
          <a:xfrm>
            <a:off x="6766559" y="1453895"/>
            <a:ext cx="4480560" cy="1280160"/>
          </a:xfrm>
          <a:prstGeom prst="rect">
            <a:avLst/>
          </a:prstGeom>
          <a:noFill/>
        </p:spPr>
        <p:txBody>
          <a:bodyPr wrap="square" lIns="0" tIns="0" rIns="0" bIns="0">
            <a:spAutoFit/>
          </a:bodyPr>
          <a:lstStyle/>
          <a:p>
            <a:pPr>
              <a:spcAft>
                <a:spcPts val="300"/>
              </a:spcAft>
              <a:defRPr sz="1200" b="1">
                <a:solidFill>
                  <a:srgbClr val="1C1E1C"/>
                </a:solidFill>
                <a:latin typeface="Georgia"/>
              </a:defRPr>
            </a:pPr>
            <a:r>
              <a:t>Feature &amp; Validation Strategies</a:t>
            </a:r>
          </a:p>
          <a:p>
            <a:pPr>
              <a:defRPr sz="950">
                <a:solidFill>
                  <a:srgbClr val="282C2A"/>
                </a:solidFill>
                <a:latin typeface="Calibri"/>
              </a:defRPr>
            </a:pPr>
            <a:r>
              <a:t>Meta-analyses (Frontiers 2024; MDPI 2021) emphasize feature selection, moisture normalization, PCA/indices, and robust spatial cross-validation to avoid overfitting and inflated metrics. </a:t>
            </a:r>
            <a:r>
              <a:rPr b="1">
                <a:solidFill>
                  <a:srgbClr val="1864B9"/>
                </a:solidFill>
                <a:latin typeface="Calibri"/>
                <a:hlinkClick r:id="rId3"/>
              </a:rPr>
              <a:t>[🔗 View Paper]</a:t>
            </a:r>
          </a:p>
        </p:txBody>
      </p:sp>
      <p:sp>
        <p:nvSpPr>
          <p:cNvPr id="12" name="Rounded Rectangle 11"/>
          <p:cNvSpPr/>
          <p:nvPr/>
        </p:nvSpPr>
        <p:spPr>
          <a:xfrm>
            <a:off x="731520" y="3108960"/>
            <a:ext cx="5212080" cy="150876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36976"/>
            <a:ext cx="365760" cy="365760"/>
          </a:xfrm>
          <a:prstGeom prst="rect">
            <a:avLst/>
          </a:prstGeom>
          <a:noFill/>
        </p:spPr>
        <p:txBody>
          <a:bodyPr wrap="none" lIns="0" tIns="0" rIns="0" bIns="0">
            <a:spAutoFit/>
          </a:bodyPr>
          <a:lstStyle/>
          <a:p>
            <a:pPr>
              <a:defRPr sz="1400"/>
            </a:pPr>
            <a:r>
              <a:t>🎛️</a:t>
            </a:r>
          </a:p>
        </p:txBody>
      </p:sp>
      <p:sp>
        <p:nvSpPr>
          <p:cNvPr id="14" name="TextBox 13"/>
          <p:cNvSpPr txBox="1"/>
          <p:nvPr/>
        </p:nvSpPr>
        <p:spPr>
          <a:xfrm>
            <a:off x="1280160" y="3236976"/>
            <a:ext cx="4480560" cy="1280160"/>
          </a:xfrm>
          <a:prstGeom prst="rect">
            <a:avLst/>
          </a:prstGeom>
          <a:noFill/>
        </p:spPr>
        <p:txBody>
          <a:bodyPr wrap="square" lIns="0" tIns="0" rIns="0" bIns="0">
            <a:spAutoFit/>
          </a:bodyPr>
          <a:lstStyle/>
          <a:p>
            <a:pPr>
              <a:spcAft>
                <a:spcPts val="300"/>
              </a:spcAft>
              <a:defRPr sz="1200" b="1">
                <a:solidFill>
                  <a:srgbClr val="1C1E1C"/>
                </a:solidFill>
                <a:latin typeface="Georgia"/>
              </a:defRPr>
            </a:pPr>
            <a:r>
              <a:t>Hyperparameter Tuning</a:t>
            </a:r>
          </a:p>
          <a:p>
            <a:pPr>
              <a:defRPr sz="950">
                <a:solidFill>
                  <a:srgbClr val="282C2A"/>
                </a:solidFill>
                <a:latin typeface="Calibri"/>
              </a:defRPr>
            </a:pPr>
            <a:r>
              <a:t>Strong performance depends on careful tuning of complexity, learning rate, depth, and regularization. Bayesian optimization and nested CV balance accuracy with generalization. </a:t>
            </a:r>
            <a:r>
              <a:rPr b="1">
                <a:solidFill>
                  <a:srgbClr val="1864B9"/>
                </a:solidFill>
                <a:latin typeface="Calibri"/>
                <a:hlinkClick r:id="rId4"/>
              </a:rPr>
              <a:t>[🔗 View Paper]</a:t>
            </a:r>
          </a:p>
        </p:txBody>
      </p:sp>
      <p:sp>
        <p:nvSpPr>
          <p:cNvPr id="15" name="Rounded Rectangle 14"/>
          <p:cNvSpPr/>
          <p:nvPr/>
        </p:nvSpPr>
        <p:spPr>
          <a:xfrm>
            <a:off x="6217920" y="3108960"/>
            <a:ext cx="5212080" cy="150876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236976"/>
            <a:ext cx="365760" cy="365760"/>
          </a:xfrm>
          <a:prstGeom prst="rect">
            <a:avLst/>
          </a:prstGeom>
          <a:noFill/>
        </p:spPr>
        <p:txBody>
          <a:bodyPr wrap="none" lIns="0" tIns="0" rIns="0" bIns="0">
            <a:spAutoFit/>
          </a:bodyPr>
          <a:lstStyle/>
          <a:p>
            <a:pPr>
              <a:defRPr sz="1400"/>
            </a:pPr>
            <a:r>
              <a:t>⚖️</a:t>
            </a:r>
          </a:p>
        </p:txBody>
      </p:sp>
      <p:sp>
        <p:nvSpPr>
          <p:cNvPr id="17" name="TextBox 16"/>
          <p:cNvSpPr txBox="1"/>
          <p:nvPr/>
        </p:nvSpPr>
        <p:spPr>
          <a:xfrm>
            <a:off x="6766559" y="3236976"/>
            <a:ext cx="4480560" cy="1280160"/>
          </a:xfrm>
          <a:prstGeom prst="rect">
            <a:avLst/>
          </a:prstGeom>
          <a:noFill/>
        </p:spPr>
        <p:txBody>
          <a:bodyPr wrap="square" lIns="0" tIns="0" rIns="0" bIns="0">
            <a:spAutoFit/>
          </a:bodyPr>
          <a:lstStyle/>
          <a:p>
            <a:pPr>
              <a:spcAft>
                <a:spcPts val="300"/>
              </a:spcAft>
              <a:defRPr sz="1200" b="1">
                <a:solidFill>
                  <a:srgbClr val="1C1E1C"/>
                </a:solidFill>
                <a:latin typeface="Georgia"/>
              </a:defRPr>
            </a:pPr>
            <a:r>
              <a:t>Class Imbalance in Soil Data</a:t>
            </a:r>
          </a:p>
          <a:p>
            <a:pPr>
              <a:defRPr sz="950">
                <a:solidFill>
                  <a:srgbClr val="282C2A"/>
                </a:solidFill>
                <a:latin typeface="Calibri"/>
              </a:defRPr>
            </a:pPr>
            <a:r>
              <a:t>Soil datasets overrepresent common ranges while extreme nutrient deficiencies are under-sampled. Prior work supports stratified sampling and focal loss to improve minority-class recall. </a:t>
            </a:r>
            <a:r>
              <a:rPr b="1">
                <a:solidFill>
                  <a:srgbClr val="1864B9"/>
                </a:solidFill>
                <a:latin typeface="Calibri"/>
                <a:hlinkClick r:id="rId5"/>
              </a:rPr>
              <a:t>[🔗 View Paper]</a:t>
            </a:r>
          </a:p>
        </p:txBody>
      </p:sp>
      <p:sp>
        <p:nvSpPr>
          <p:cNvPr id="18" name="Rounded Rectangle 17"/>
          <p:cNvSpPr/>
          <p:nvPr/>
        </p:nvSpPr>
        <p:spPr>
          <a:xfrm>
            <a:off x="731520" y="4846320"/>
            <a:ext cx="5212080" cy="150876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974336"/>
            <a:ext cx="365760" cy="365760"/>
          </a:xfrm>
          <a:prstGeom prst="rect">
            <a:avLst/>
          </a:prstGeom>
          <a:noFill/>
        </p:spPr>
        <p:txBody>
          <a:bodyPr wrap="none" lIns="0" tIns="0" rIns="0" bIns="0">
            <a:spAutoFit/>
          </a:bodyPr>
          <a:lstStyle/>
          <a:p>
            <a:pPr>
              <a:defRPr sz="1400"/>
            </a:pPr>
            <a:r>
              <a:t>🧠</a:t>
            </a:r>
          </a:p>
        </p:txBody>
      </p:sp>
      <p:sp>
        <p:nvSpPr>
          <p:cNvPr id="20" name="TextBox 19"/>
          <p:cNvSpPr txBox="1"/>
          <p:nvPr/>
        </p:nvSpPr>
        <p:spPr>
          <a:xfrm>
            <a:off x="1280160" y="4974336"/>
            <a:ext cx="4480560" cy="1280160"/>
          </a:xfrm>
          <a:prstGeom prst="rect">
            <a:avLst/>
          </a:prstGeom>
          <a:noFill/>
        </p:spPr>
        <p:txBody>
          <a:bodyPr wrap="square" lIns="0" tIns="0" rIns="0" bIns="0">
            <a:spAutoFit/>
          </a:bodyPr>
          <a:lstStyle/>
          <a:p>
            <a:pPr>
              <a:spcAft>
                <a:spcPts val="300"/>
              </a:spcAft>
              <a:defRPr sz="1200" b="1">
                <a:solidFill>
                  <a:srgbClr val="1C1E1C"/>
                </a:solidFill>
                <a:latin typeface="Georgia"/>
              </a:defRPr>
            </a:pPr>
            <a:r>
              <a:t>Transfer Learning &amp; Domain Adaptation</a:t>
            </a:r>
          </a:p>
          <a:p>
            <a:pPr>
              <a:defRPr sz="950">
                <a:solidFill>
                  <a:srgbClr val="282C2A"/>
                </a:solidFill>
                <a:latin typeface="Calibri"/>
              </a:defRPr>
            </a:pPr>
            <a:r>
              <a:t>When local field data are limited, transfer learning from larger spectral libraries (e.g. LUCAS) improves robustness, adapting across landscapes to reduce local ground truth collection costs. </a:t>
            </a:r>
            <a:r>
              <a:rPr b="1">
                <a:solidFill>
                  <a:srgbClr val="1864B9"/>
                </a:solidFill>
                <a:latin typeface="Calibri"/>
                <a:hlinkClick r:id="rId6"/>
              </a:rPr>
              <a:t>[🔗 View Paper]</a:t>
            </a:r>
          </a:p>
        </p:txBody>
      </p:sp>
      <p:sp>
        <p:nvSpPr>
          <p:cNvPr id="21" name="Rounded Rectangle 20"/>
          <p:cNvSpPr/>
          <p:nvPr/>
        </p:nvSpPr>
        <p:spPr>
          <a:xfrm>
            <a:off x="6217920" y="4846320"/>
            <a:ext cx="5212080" cy="150876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74336"/>
            <a:ext cx="365760" cy="365760"/>
          </a:xfrm>
          <a:prstGeom prst="rect">
            <a:avLst/>
          </a:prstGeom>
          <a:noFill/>
        </p:spPr>
        <p:txBody>
          <a:bodyPr wrap="none" lIns="0" tIns="0" rIns="0" bIns="0">
            <a:spAutoFit/>
          </a:bodyPr>
          <a:lstStyle/>
          <a:p>
            <a:pPr>
              <a:defRPr sz="1400"/>
            </a:pPr>
            <a:r>
              <a:t>🎯</a:t>
            </a:r>
          </a:p>
        </p:txBody>
      </p:sp>
      <p:sp>
        <p:nvSpPr>
          <p:cNvPr id="23" name="TextBox 22"/>
          <p:cNvSpPr txBox="1"/>
          <p:nvPr/>
        </p:nvSpPr>
        <p:spPr>
          <a:xfrm>
            <a:off x="6766559" y="4974336"/>
            <a:ext cx="4480560" cy="1280160"/>
          </a:xfrm>
          <a:prstGeom prst="rect">
            <a:avLst/>
          </a:prstGeom>
          <a:noFill/>
        </p:spPr>
        <p:txBody>
          <a:bodyPr wrap="square" lIns="0" tIns="0" rIns="0" bIns="0">
            <a:spAutoFit/>
          </a:bodyPr>
          <a:lstStyle/>
          <a:p>
            <a:pPr>
              <a:spcAft>
                <a:spcPts val="300"/>
              </a:spcAft>
              <a:defRPr sz="1200" b="1">
                <a:solidFill>
                  <a:srgbClr val="1C1E1C"/>
                </a:solidFill>
                <a:latin typeface="Georgia"/>
              </a:defRPr>
            </a:pPr>
            <a:r>
              <a:t>Uncertainty Quantification</a:t>
            </a:r>
          </a:p>
          <a:p>
            <a:pPr>
              <a:defRPr sz="950">
                <a:solidFill>
                  <a:srgbClr val="282C2A"/>
                </a:solidFill>
                <a:latin typeface="Calibri"/>
              </a:defRPr>
            </a:pPr>
            <a:r>
              <a:t>For mapping and decision support, point predictions are not enough. Ensemble variance and quantile regression provide uncertainty estimates that expose unreliable predictions. </a:t>
            </a:r>
            <a:r>
              <a:rPr b="1">
                <a:solidFill>
                  <a:srgbClr val="1864B9"/>
                </a:solidFill>
                <a:latin typeface="Calibri"/>
                <a:hlinkClick r:id="rId7"/>
              </a:rPr>
              <a:t>[🔗 View Paper]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LITERATURE SURVEY (3/3)</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Target Variables &amp; Spatial Mapping Evidence</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ge_06_img_01.jpeg"/>
          <p:cNvPicPr>
            <a:picLocks noChangeAspect="1"/>
          </p:cNvPicPr>
          <p:nvPr/>
        </p:nvPicPr>
        <p:blipFill>
          <a:blip r:embed="rId2"/>
          <a:stretch>
            <a:fillRect/>
          </a:stretch>
        </p:blipFill>
        <p:spPr>
          <a:xfrm>
            <a:off x="868680" y="1463040"/>
            <a:ext cx="1691640" cy="1051560"/>
          </a:xfrm>
          <a:prstGeom prst="rect">
            <a:avLst/>
          </a:prstGeom>
        </p:spPr>
      </p:pic>
      <p:sp>
        <p:nvSpPr>
          <p:cNvPr id="8" name="TextBox 7"/>
          <p:cNvSpPr txBox="1"/>
          <p:nvPr/>
        </p:nvSpPr>
        <p:spPr>
          <a:xfrm>
            <a:off x="86868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Topsoil Targets</a:t>
            </a:r>
          </a:p>
          <a:p>
            <a:pPr>
              <a:spcAft>
                <a:spcPts val="800"/>
              </a:spcAft>
              <a:defRPr sz="950">
                <a:solidFill>
                  <a:srgbClr val="282C2A"/>
                </a:solidFill>
                <a:latin typeface="Calibri"/>
              </a:defRPr>
            </a:pPr>
            <a:r>
              <a:t>Studies (Charishma et al. 2024; Ng et al. 2019) demonstrate Sentinel-2 band combos and SWIR indices correlate with top 0–20 cm N, SOC, and available P/K when crop residue is masked.</a:t>
            </a:r>
          </a:p>
          <a:p>
            <a:r>
              <a:rPr sz="950" b="1">
                <a:solidFill>
                  <a:srgbClr val="1864B9"/>
                </a:solidFill>
                <a:latin typeface="Calibri"/>
                <a:hlinkClick r:id="rId3"/>
              </a:rPr>
              <a:t>[🔗 View Paper / DOI]</a:t>
            </a:r>
          </a:p>
        </p:txBody>
      </p:sp>
      <p:sp>
        <p:nvSpPr>
          <p:cNvPr id="9" name="Rounded Rectangle 8"/>
          <p:cNvSpPr/>
          <p:nvPr/>
        </p:nvSpPr>
        <p:spPr>
          <a:xfrm>
            <a:off x="292608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age_06_img_02.jpeg"/>
          <p:cNvPicPr>
            <a:picLocks noChangeAspect="1"/>
          </p:cNvPicPr>
          <p:nvPr/>
        </p:nvPicPr>
        <p:blipFill>
          <a:blip r:embed="rId4"/>
          <a:stretch>
            <a:fillRect/>
          </a:stretch>
        </p:blipFill>
        <p:spPr>
          <a:xfrm>
            <a:off x="3063240" y="1463040"/>
            <a:ext cx="1691640" cy="1051560"/>
          </a:xfrm>
          <a:prstGeom prst="rect">
            <a:avLst/>
          </a:prstGeom>
        </p:spPr>
      </p:pic>
      <p:sp>
        <p:nvSpPr>
          <p:cNvPr id="11" name="TextBox 10"/>
          <p:cNvSpPr txBox="1"/>
          <p:nvPr/>
        </p:nvSpPr>
        <p:spPr>
          <a:xfrm>
            <a:off x="306324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Actionable Tiering</a:t>
            </a:r>
          </a:p>
          <a:p>
            <a:pPr>
              <a:spcAft>
                <a:spcPts val="800"/>
              </a:spcAft>
              <a:defRPr sz="950">
                <a:solidFill>
                  <a:srgbClr val="282C2A"/>
                </a:solidFill>
                <a:latin typeface="Calibri"/>
              </a:defRPr>
            </a:pPr>
            <a:r>
              <a:t>Models convert continuous ppm predictions into Low/Medium/High soil-health tiers and enable regionally calibrated fertilizer recommendations (Bhargavi &amp; Anitha 2026; CIGR Journal 2025).</a:t>
            </a:r>
          </a:p>
          <a:p>
            <a:r>
              <a:rPr sz="950" b="1">
                <a:solidFill>
                  <a:srgbClr val="1864B9"/>
                </a:solidFill>
                <a:latin typeface="Calibri"/>
                <a:hlinkClick r:id="rId5"/>
              </a:rPr>
              <a:t>[🔗 View Paper / DOI]</a:t>
            </a:r>
          </a:p>
        </p:txBody>
      </p:sp>
      <p:sp>
        <p:nvSpPr>
          <p:cNvPr id="12" name="Rounded Rectangle 11"/>
          <p:cNvSpPr/>
          <p:nvPr/>
        </p:nvSpPr>
        <p:spPr>
          <a:xfrm>
            <a:off x="512064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age_06_img_03.jpeg"/>
          <p:cNvPicPr>
            <a:picLocks noChangeAspect="1"/>
          </p:cNvPicPr>
          <p:nvPr/>
        </p:nvPicPr>
        <p:blipFill>
          <a:blip r:embed="rId6"/>
          <a:stretch>
            <a:fillRect/>
          </a:stretch>
        </p:blipFill>
        <p:spPr>
          <a:xfrm>
            <a:off x="5257800" y="1463040"/>
            <a:ext cx="1691640" cy="1051560"/>
          </a:xfrm>
          <a:prstGeom prst="rect">
            <a:avLst/>
          </a:prstGeom>
        </p:spPr>
      </p:pic>
      <p:sp>
        <p:nvSpPr>
          <p:cNvPr id="14" name="TextBox 13"/>
          <p:cNvSpPr txBox="1"/>
          <p:nvPr/>
        </p:nvSpPr>
        <p:spPr>
          <a:xfrm>
            <a:off x="525780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Seasonal Variation</a:t>
            </a:r>
          </a:p>
          <a:p>
            <a:pPr>
              <a:spcAft>
                <a:spcPts val="800"/>
              </a:spcAft>
              <a:defRPr sz="950">
                <a:solidFill>
                  <a:srgbClr val="282C2A"/>
                </a:solidFill>
                <a:latin typeface="Calibri"/>
              </a:defRPr>
            </a:pPr>
            <a:r>
              <a:t>Soil moisture, residue cover, and crop growth stage shift reflectance. Mapping is stronger when imagery is matched to consistent plowing windows or modeled with seasonal covariates (Wang et al. 2021).</a:t>
            </a:r>
          </a:p>
          <a:p>
            <a:r>
              <a:rPr sz="950" b="1">
                <a:solidFill>
                  <a:srgbClr val="1864B9"/>
                </a:solidFill>
                <a:latin typeface="Calibri"/>
                <a:hlinkClick r:id="rId7"/>
              </a:rPr>
              <a:t>[🔗 View Paper / DOI]</a:t>
            </a:r>
          </a:p>
        </p:txBody>
      </p:sp>
      <p:sp>
        <p:nvSpPr>
          <p:cNvPr id="15" name="Rounded Rectangle 14"/>
          <p:cNvSpPr/>
          <p:nvPr/>
        </p:nvSpPr>
        <p:spPr>
          <a:xfrm>
            <a:off x="731520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age_06_img_04.jpeg"/>
          <p:cNvPicPr>
            <a:picLocks noChangeAspect="1"/>
          </p:cNvPicPr>
          <p:nvPr/>
        </p:nvPicPr>
        <p:blipFill>
          <a:blip r:embed="rId8"/>
          <a:stretch>
            <a:fillRect/>
          </a:stretch>
        </p:blipFill>
        <p:spPr>
          <a:xfrm>
            <a:off x="7452360" y="1463040"/>
            <a:ext cx="1691640" cy="1051560"/>
          </a:xfrm>
          <a:prstGeom prst="rect">
            <a:avLst/>
          </a:prstGeom>
        </p:spPr>
      </p:pic>
      <p:sp>
        <p:nvSpPr>
          <p:cNvPr id="17" name="TextBox 16"/>
          <p:cNvSpPr txBox="1"/>
          <p:nvPr/>
        </p:nvSpPr>
        <p:spPr>
          <a:xfrm>
            <a:off x="745236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Depth Profiles</a:t>
            </a:r>
          </a:p>
          <a:p>
            <a:pPr>
              <a:spcAft>
                <a:spcPts val="800"/>
              </a:spcAft>
              <a:defRPr sz="950">
                <a:solidFill>
                  <a:srgbClr val="282C2A"/>
                </a:solidFill>
                <a:latin typeface="Calibri"/>
              </a:defRPr>
            </a:pPr>
            <a:r>
              <a:t>Target variables must be defined by sampling depth; nutrient concentration declines with depth. Plowing homogenizes 0–20 cm, while canopy signals reflect deeper root-zone uptake.</a:t>
            </a:r>
          </a:p>
          <a:p>
            <a:r>
              <a:rPr sz="950" b="1">
                <a:solidFill>
                  <a:srgbClr val="1864B9"/>
                </a:solidFill>
                <a:latin typeface="Calibri"/>
                <a:hlinkClick r:id="rId9"/>
              </a:rPr>
              <a:t>[🔗 View Paper / DOI]</a:t>
            </a:r>
          </a:p>
        </p:txBody>
      </p:sp>
      <p:sp>
        <p:nvSpPr>
          <p:cNvPr id="18" name="Rounded Rectangle 17"/>
          <p:cNvSpPr/>
          <p:nvPr/>
        </p:nvSpPr>
        <p:spPr>
          <a:xfrm>
            <a:off x="9509760" y="1325880"/>
            <a:ext cx="196596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age_06_img_05.jpeg"/>
          <p:cNvPicPr>
            <a:picLocks noChangeAspect="1"/>
          </p:cNvPicPr>
          <p:nvPr/>
        </p:nvPicPr>
        <p:blipFill>
          <a:blip r:embed="rId10"/>
          <a:stretch>
            <a:fillRect/>
          </a:stretch>
        </p:blipFill>
        <p:spPr>
          <a:xfrm>
            <a:off x="9646920" y="1463040"/>
            <a:ext cx="1691640" cy="1051560"/>
          </a:xfrm>
          <a:prstGeom prst="rect">
            <a:avLst/>
          </a:prstGeom>
        </p:spPr>
      </p:pic>
      <p:sp>
        <p:nvSpPr>
          <p:cNvPr id="20" name="TextBox 19"/>
          <p:cNvSpPr txBox="1"/>
          <p:nvPr/>
        </p:nvSpPr>
        <p:spPr>
          <a:xfrm>
            <a:off x="9646920" y="2606040"/>
            <a:ext cx="1691640" cy="3566160"/>
          </a:xfrm>
          <a:prstGeom prst="rect">
            <a:avLst/>
          </a:prstGeom>
          <a:noFill/>
        </p:spPr>
        <p:txBody>
          <a:bodyPr wrap="square" lIns="0" tIns="0" rIns="0" bIns="0">
            <a:spAutoFit/>
          </a:bodyPr>
          <a:lstStyle/>
          <a:p>
            <a:pPr>
              <a:spcAft>
                <a:spcPts val="600"/>
              </a:spcAft>
              <a:defRPr sz="1200" b="1">
                <a:solidFill>
                  <a:srgbClr val="1C1E1C"/>
                </a:solidFill>
                <a:latin typeface="Georgia"/>
              </a:defRPr>
            </a:pPr>
            <a:r>
              <a:t>Mixed Crop Types</a:t>
            </a:r>
          </a:p>
          <a:p>
            <a:pPr>
              <a:spcAft>
                <a:spcPts val="800"/>
              </a:spcAft>
              <a:defRPr sz="950">
                <a:solidFill>
                  <a:srgbClr val="282C2A"/>
                </a:solidFill>
                <a:latin typeface="Calibri"/>
              </a:defRPr>
            </a:pPr>
            <a:r>
              <a:t>In heterogeneous fields, crop type confounds spectral signatures. Stratifying by crop class, masking crop canopies, or using crop-aware models prevents confusing crop signals with soil variation.</a:t>
            </a:r>
          </a:p>
          <a:p>
            <a:r>
              <a:rPr sz="950" b="1">
                <a:solidFill>
                  <a:srgbClr val="1864B9"/>
                </a:solidFill>
                <a:latin typeface="Calibri"/>
                <a:hlinkClick r:id="rId11"/>
              </a:rPr>
              <a:t>[🔗 View Paper / DOI]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EXISTING SYSTEM LIMITATIONS</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Known Limitations &amp; Methodological Pitfalls</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pic>
        <p:nvPicPr>
          <p:cNvPr id="6" name="Picture 5" descr="page_07_img_01.jpeg"/>
          <p:cNvPicPr>
            <a:picLocks noChangeAspect="1"/>
          </p:cNvPicPr>
          <p:nvPr/>
        </p:nvPicPr>
        <p:blipFill>
          <a:blip r:embed="rId2"/>
          <a:stretch>
            <a:fillRect/>
          </a:stretch>
        </p:blipFill>
        <p:spPr>
          <a:xfrm>
            <a:off x="731520" y="1325880"/>
            <a:ext cx="3566160" cy="5029200"/>
          </a:xfrm>
          <a:prstGeom prst="rect">
            <a:avLst/>
          </a:prstGeom>
        </p:spPr>
      </p:pic>
      <p:sp>
        <p:nvSpPr>
          <p:cNvPr id="7" name="Rounded Rectangle 6"/>
          <p:cNvSpPr/>
          <p:nvPr/>
        </p:nvSpPr>
        <p:spPr>
          <a:xfrm>
            <a:off x="4572000" y="1325880"/>
            <a:ext cx="685800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1325880"/>
            <a:ext cx="6858000" cy="36576"/>
          </a:xfrm>
          <a:prstGeom prst="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818120" y="1179576"/>
            <a:ext cx="329184" cy="329184"/>
          </a:xfrm>
          <a:prstGeom prst="ellipse">
            <a:avLst/>
          </a:prstGeom>
          <a:solidFill>
            <a:srgbClr val="1C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1</a:t>
            </a:r>
          </a:p>
        </p:txBody>
      </p:sp>
      <p:sp>
        <p:nvSpPr>
          <p:cNvPr id="10" name="TextBox 9"/>
          <p:cNvSpPr txBox="1"/>
          <p:nvPr/>
        </p:nvSpPr>
        <p:spPr>
          <a:xfrm>
            <a:off x="4754880" y="1490472"/>
            <a:ext cx="6492240" cy="685800"/>
          </a:xfrm>
          <a:prstGeom prst="rect">
            <a:avLst/>
          </a:prstGeom>
          <a:noFill/>
        </p:spPr>
        <p:txBody>
          <a:bodyPr wrap="square" lIns="0" tIns="0" rIns="0" bIns="0">
            <a:spAutoFit/>
          </a:bodyPr>
          <a:lstStyle/>
          <a:p>
            <a:pPr>
              <a:spcAft>
                <a:spcPts val="200"/>
              </a:spcAft>
              <a:defRPr sz="1150" b="1">
                <a:solidFill>
                  <a:srgbClr val="1C1E1C"/>
                </a:solidFill>
                <a:latin typeface="Georgia"/>
              </a:defRPr>
            </a:pPr>
            <a:r>
              <a:t>Wet-Chemical Testing Constraints</a:t>
            </a:r>
          </a:p>
          <a:p>
            <a:pPr>
              <a:defRPr sz="950">
                <a:solidFill>
                  <a:srgbClr val="282C2A"/>
                </a:solidFill>
                <a:latin typeface="Calibri"/>
              </a:defRPr>
            </a:pPr>
            <a:r>
              <a:t>Lab tests are time-intensive (2–4 weeks), costly (₹500–₹2,500/sample), spatially sparse (composite samples erase intra-field variability), and destructive/manual.</a:t>
            </a:r>
          </a:p>
        </p:txBody>
      </p:sp>
      <p:sp>
        <p:nvSpPr>
          <p:cNvPr id="11" name="Rounded Rectangle 10"/>
          <p:cNvSpPr/>
          <p:nvPr/>
        </p:nvSpPr>
        <p:spPr>
          <a:xfrm>
            <a:off x="4572000" y="2350008"/>
            <a:ext cx="685800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350008"/>
            <a:ext cx="6858000" cy="36576"/>
          </a:xfrm>
          <a:prstGeom prst="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818120" y="2203704"/>
            <a:ext cx="329184" cy="329184"/>
          </a:xfrm>
          <a:prstGeom prst="ellipse">
            <a:avLst/>
          </a:prstGeom>
          <a:solidFill>
            <a:srgbClr val="1C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2</a:t>
            </a:r>
          </a:p>
        </p:txBody>
      </p:sp>
      <p:sp>
        <p:nvSpPr>
          <p:cNvPr id="14" name="TextBox 13"/>
          <p:cNvSpPr txBox="1"/>
          <p:nvPr/>
        </p:nvSpPr>
        <p:spPr>
          <a:xfrm>
            <a:off x="4754880" y="2514600"/>
            <a:ext cx="6492240" cy="685800"/>
          </a:xfrm>
          <a:prstGeom prst="rect">
            <a:avLst/>
          </a:prstGeom>
          <a:noFill/>
        </p:spPr>
        <p:txBody>
          <a:bodyPr wrap="square" lIns="0" tIns="0" rIns="0" bIns="0">
            <a:spAutoFit/>
          </a:bodyPr>
          <a:lstStyle/>
          <a:p>
            <a:pPr>
              <a:spcAft>
                <a:spcPts val="200"/>
              </a:spcAft>
              <a:defRPr sz="1150" b="1">
                <a:solidFill>
                  <a:srgbClr val="1C1E1C"/>
                </a:solidFill>
                <a:latin typeface="Georgia"/>
              </a:defRPr>
            </a:pPr>
            <a:r>
              <a:t>Naive Satellite Model Risks</a:t>
            </a:r>
          </a:p>
          <a:p>
            <a:pPr>
              <a:defRPr sz="950">
                <a:solidFill>
                  <a:srgbClr val="282C2A"/>
                </a:solidFill>
                <a:latin typeface="Calibri"/>
              </a:defRPr>
            </a:pPr>
            <a:r>
              <a:t>Vegetation cover confounds soil signals; naive assumptions ignore sensor physics (P/K depend on mineral covariance); random splits cause spatial leakage and inflated R².</a:t>
            </a:r>
          </a:p>
        </p:txBody>
      </p:sp>
      <p:sp>
        <p:nvSpPr>
          <p:cNvPr id="15" name="Rounded Rectangle 14"/>
          <p:cNvSpPr/>
          <p:nvPr/>
        </p:nvSpPr>
        <p:spPr>
          <a:xfrm>
            <a:off x="4572000" y="3374136"/>
            <a:ext cx="685800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0" y="3374136"/>
            <a:ext cx="6858000" cy="36576"/>
          </a:xfrm>
          <a:prstGeom prst="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818120" y="3227832"/>
            <a:ext cx="329184" cy="329184"/>
          </a:xfrm>
          <a:prstGeom prst="ellipse">
            <a:avLst/>
          </a:prstGeom>
          <a:solidFill>
            <a:srgbClr val="1C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3</a:t>
            </a:r>
          </a:p>
        </p:txBody>
      </p:sp>
      <p:sp>
        <p:nvSpPr>
          <p:cNvPr id="18" name="TextBox 17"/>
          <p:cNvSpPr txBox="1"/>
          <p:nvPr/>
        </p:nvSpPr>
        <p:spPr>
          <a:xfrm>
            <a:off x="4754880" y="3538728"/>
            <a:ext cx="6492240" cy="685800"/>
          </a:xfrm>
          <a:prstGeom prst="rect">
            <a:avLst/>
          </a:prstGeom>
          <a:noFill/>
        </p:spPr>
        <p:txBody>
          <a:bodyPr wrap="square" lIns="0" tIns="0" rIns="0" bIns="0">
            <a:spAutoFit/>
          </a:bodyPr>
          <a:lstStyle/>
          <a:p>
            <a:pPr>
              <a:spcAft>
                <a:spcPts val="200"/>
              </a:spcAft>
              <a:defRPr sz="1150" b="1">
                <a:solidFill>
                  <a:srgbClr val="1C1E1C"/>
                </a:solidFill>
                <a:latin typeface="Georgia"/>
              </a:defRPr>
            </a:pPr>
            <a:r>
              <a:t>Atmospheric Effects on Satellite Data</a:t>
            </a:r>
          </a:p>
          <a:p>
            <a:pPr>
              <a:defRPr sz="950">
                <a:solidFill>
                  <a:srgbClr val="282C2A"/>
                </a:solidFill>
                <a:latin typeface="Calibri"/>
              </a:defRPr>
            </a:pPr>
            <a:r>
              <a:t>Clouds, haze, aerosols, water vapor, and variable illumination can distort reflectance values. Residual atmospheric noise obscures subtle soil differences if uncorrected.</a:t>
            </a:r>
          </a:p>
        </p:txBody>
      </p:sp>
      <p:sp>
        <p:nvSpPr>
          <p:cNvPr id="19" name="Rounded Rectangle 18"/>
          <p:cNvSpPr/>
          <p:nvPr/>
        </p:nvSpPr>
        <p:spPr>
          <a:xfrm>
            <a:off x="4572000" y="4398264"/>
            <a:ext cx="685800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4398264"/>
            <a:ext cx="6858000" cy="36576"/>
          </a:xfrm>
          <a:prstGeom prst="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18120" y="4251960"/>
            <a:ext cx="329184" cy="329184"/>
          </a:xfrm>
          <a:prstGeom prst="ellipse">
            <a:avLst/>
          </a:prstGeom>
          <a:solidFill>
            <a:srgbClr val="1C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4</a:t>
            </a:r>
          </a:p>
        </p:txBody>
      </p:sp>
      <p:sp>
        <p:nvSpPr>
          <p:cNvPr id="22" name="TextBox 21"/>
          <p:cNvSpPr txBox="1"/>
          <p:nvPr/>
        </p:nvSpPr>
        <p:spPr>
          <a:xfrm>
            <a:off x="4754880" y="4562856"/>
            <a:ext cx="6492240" cy="685800"/>
          </a:xfrm>
          <a:prstGeom prst="rect">
            <a:avLst/>
          </a:prstGeom>
          <a:noFill/>
        </p:spPr>
        <p:txBody>
          <a:bodyPr wrap="square" lIns="0" tIns="0" rIns="0" bIns="0">
            <a:spAutoFit/>
          </a:bodyPr>
          <a:lstStyle/>
          <a:p>
            <a:pPr>
              <a:spcAft>
                <a:spcPts val="200"/>
              </a:spcAft>
              <a:defRPr sz="1150" b="1">
                <a:solidFill>
                  <a:srgbClr val="1C1E1C"/>
                </a:solidFill>
                <a:latin typeface="Georgia"/>
              </a:defRPr>
            </a:pPr>
            <a:r>
              <a:t>Calibration Drift Over Time</a:t>
            </a:r>
          </a:p>
          <a:p>
            <a:pPr>
              <a:defRPr sz="950">
                <a:solidFill>
                  <a:srgbClr val="282C2A"/>
                </a:solidFill>
                <a:latin typeface="Calibri"/>
              </a:defRPr>
            </a:pPr>
            <a:r>
              <a:t>Sensor aging, platform transitions, and changing acquisition conditions introduce calibration drift that weakens model reliability across seasons and years.</a:t>
            </a:r>
          </a:p>
        </p:txBody>
      </p:sp>
      <p:sp>
        <p:nvSpPr>
          <p:cNvPr id="23" name="Rounded Rectangle 22"/>
          <p:cNvSpPr/>
          <p:nvPr/>
        </p:nvSpPr>
        <p:spPr>
          <a:xfrm>
            <a:off x="4572000" y="5422392"/>
            <a:ext cx="685800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0" y="5422392"/>
            <a:ext cx="6858000" cy="36576"/>
          </a:xfrm>
          <a:prstGeom prst="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818120" y="5276088"/>
            <a:ext cx="329184" cy="329184"/>
          </a:xfrm>
          <a:prstGeom prst="ellipse">
            <a:avLst/>
          </a:prstGeom>
          <a:solidFill>
            <a:srgbClr val="1C1E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5</a:t>
            </a:r>
          </a:p>
        </p:txBody>
      </p:sp>
      <p:sp>
        <p:nvSpPr>
          <p:cNvPr id="26" name="TextBox 25"/>
          <p:cNvSpPr txBox="1"/>
          <p:nvPr/>
        </p:nvSpPr>
        <p:spPr>
          <a:xfrm>
            <a:off x="4754880" y="5586984"/>
            <a:ext cx="6492240" cy="685800"/>
          </a:xfrm>
          <a:prstGeom prst="rect">
            <a:avLst/>
          </a:prstGeom>
          <a:noFill/>
        </p:spPr>
        <p:txBody>
          <a:bodyPr wrap="square" lIns="0" tIns="0" rIns="0" bIns="0">
            <a:spAutoFit/>
          </a:bodyPr>
          <a:lstStyle/>
          <a:p>
            <a:pPr>
              <a:spcAft>
                <a:spcPts val="200"/>
              </a:spcAft>
              <a:defRPr sz="1150" b="1">
                <a:solidFill>
                  <a:srgbClr val="1C1E1C"/>
                </a:solidFill>
                <a:latin typeface="Georgia"/>
              </a:defRPr>
            </a:pPr>
            <a:r>
              <a:t>Weak Transferability Across Regions</a:t>
            </a:r>
          </a:p>
          <a:p>
            <a:pPr>
              <a:defRPr sz="950">
                <a:solidFill>
                  <a:srgbClr val="282C2A"/>
                </a:solidFill>
                <a:latin typeface="Calibri"/>
              </a:defRPr>
            </a:pPr>
            <a:r>
              <a:t>Models trained in one agro-ecological zone fail elsewhere because soil mineralogy, texture, and climate differ. Local fine-tuning and spatial stratification are essential.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PROBLEM STATEMENT</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Problem Statement &amp; Research Challenges</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TextBox 5"/>
          <p:cNvSpPr txBox="1"/>
          <p:nvPr/>
        </p:nvSpPr>
        <p:spPr>
          <a:xfrm>
            <a:off x="731520" y="1234440"/>
            <a:ext cx="10698480" cy="1600200"/>
          </a:xfrm>
          <a:prstGeom prst="rect">
            <a:avLst/>
          </a:prstGeom>
          <a:noFill/>
        </p:spPr>
        <p:txBody>
          <a:bodyPr wrap="square" lIns="0" tIns="0" rIns="0" bIns="0">
            <a:spAutoFit/>
          </a:bodyPr>
          <a:lstStyle/>
          <a:p>
            <a:pPr>
              <a:spcAft>
                <a:spcPts val="800"/>
              </a:spcAft>
              <a:defRPr sz="1100">
                <a:solidFill>
                  <a:srgbClr val="282C2A"/>
                </a:solidFill>
                <a:latin typeface="Calibri"/>
              </a:defRPr>
            </a:pPr>
            <a:r>
              <a:t>Conventional laboratory soil testing is financially inaccessible, slow, and spatially sparse for smallholders, so most farmers make fertilizer decisions with incomplete information. The result is indiscriminate nutrient application, lower yields, avoidable input costs, and long-term soil degradation. Across smallholder farming systems, this challenge affects millions of farmers and has a direct economic impact through wasted fertilizer spend and missed precision nutrient management.</a:t>
            </a:r>
          </a:p>
          <a:p>
            <a:pPr>
              <a:defRPr sz="1100">
                <a:solidFill>
                  <a:srgbClr val="282C2A"/>
                </a:solidFill>
                <a:latin typeface="Calibri"/>
              </a:defRPr>
            </a:pPr>
            <a:r>
              <a:t>This project asks three core research questions: (1) Can Sentinel-2 imagery be used to reliably estimate topsoil N, P, K, SOC, and pH at field-relevant 10m resolution? (2) Which spectral, spatial, and terrain-related signals are most predictive across highly variable cropping conditions? (3) How can predictions be translated into an automated, cloud-native advisory pipeline that is robust enough for operational use by farmers and agronomists?</a:t>
            </a:r>
          </a:p>
        </p:txBody>
      </p:sp>
      <p:sp>
        <p:nvSpPr>
          <p:cNvPr id="7" name="Right Arrow 6"/>
          <p:cNvSpPr/>
          <p:nvPr/>
        </p:nvSpPr>
        <p:spPr>
          <a:xfrm>
            <a:off x="731520" y="3017520"/>
            <a:ext cx="6858000" cy="676656"/>
          </a:xfrm>
          <a:prstGeom prst="rightArrow">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163824"/>
            <a:ext cx="5943600" cy="438912"/>
          </a:xfrm>
          <a:prstGeom prst="rect">
            <a:avLst/>
          </a:prstGeom>
          <a:noFill/>
        </p:spPr>
        <p:txBody>
          <a:bodyPr wrap="square" lIns="0" tIns="0" rIns="0" bIns="0">
            <a:spAutoFit/>
          </a:bodyPr>
          <a:lstStyle/>
          <a:p>
            <a:r>
              <a:rPr sz="1150" b="1">
                <a:solidFill>
                  <a:srgbClr val="FFFFFF"/>
                </a:solidFill>
                <a:latin typeface="Georgia"/>
              </a:rPr>
              <a:t>Resolve Depth Paradox  —  </a:t>
            </a:r>
            <a:r>
              <a:rPr sz="950">
                <a:solidFill>
                  <a:srgbClr val="F5F5F5"/>
                </a:solidFill>
                <a:latin typeface="Calibri"/>
              </a:rPr>
              <a:t>Tillage plow layer &amp; canopy RedEdge proxies</a:t>
            </a:r>
          </a:p>
        </p:txBody>
      </p:sp>
      <p:sp>
        <p:nvSpPr>
          <p:cNvPr id="9" name="Right Arrow 8"/>
          <p:cNvSpPr/>
          <p:nvPr/>
        </p:nvSpPr>
        <p:spPr>
          <a:xfrm>
            <a:off x="731520" y="3794760"/>
            <a:ext cx="8138160" cy="676656"/>
          </a:xfrm>
          <a:prstGeom prst="rightArrow">
            <a:avLst/>
          </a:prstGeom>
          <a:solidFill>
            <a:srgbClr val="9C5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41064"/>
            <a:ext cx="7223760" cy="438912"/>
          </a:xfrm>
          <a:prstGeom prst="rect">
            <a:avLst/>
          </a:prstGeom>
          <a:noFill/>
        </p:spPr>
        <p:txBody>
          <a:bodyPr wrap="square" lIns="0" tIns="0" rIns="0" bIns="0">
            <a:spAutoFit/>
          </a:bodyPr>
          <a:lstStyle/>
          <a:p>
            <a:r>
              <a:rPr sz="1150" b="1">
                <a:solidFill>
                  <a:srgbClr val="FFFFFF"/>
                </a:solidFill>
                <a:latin typeface="Georgia"/>
              </a:rPr>
              <a:t>Isolate Bare Soil  —  </a:t>
            </a:r>
            <a:r>
              <a:rPr sz="950">
                <a:solidFill>
                  <a:srgbClr val="F5F5F5"/>
                </a:solidFill>
                <a:latin typeface="Calibri"/>
              </a:rPr>
              <a:t>SCL cloud mask &amp; multi-temporal Barest Earth composite</a:t>
            </a:r>
          </a:p>
        </p:txBody>
      </p:sp>
      <p:sp>
        <p:nvSpPr>
          <p:cNvPr id="11" name="Right Arrow 10"/>
          <p:cNvSpPr/>
          <p:nvPr/>
        </p:nvSpPr>
        <p:spPr>
          <a:xfrm>
            <a:off x="731520" y="4572000"/>
            <a:ext cx="9509760" cy="676656"/>
          </a:xfrm>
          <a:prstGeom prst="rightArrow">
            <a:avLst/>
          </a:prstGeom>
          <a:solidFill>
            <a:srgbClr val="C47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718304"/>
            <a:ext cx="8595360" cy="438912"/>
          </a:xfrm>
          <a:prstGeom prst="rect">
            <a:avLst/>
          </a:prstGeom>
          <a:noFill/>
        </p:spPr>
        <p:txBody>
          <a:bodyPr wrap="square" lIns="0" tIns="0" rIns="0" bIns="0">
            <a:spAutoFit/>
          </a:bodyPr>
          <a:lstStyle/>
          <a:p>
            <a:r>
              <a:rPr sz="1150" b="1">
                <a:solidFill>
                  <a:srgbClr val="FFFFFF"/>
                </a:solidFill>
                <a:latin typeface="Georgia"/>
              </a:rPr>
              <a:t>Model Secondary Covariance  —  </a:t>
            </a:r>
            <a:r>
              <a:rPr sz="950">
                <a:solidFill>
                  <a:srgbClr val="F5F5F5"/>
                </a:solidFill>
                <a:latin typeface="Calibri"/>
              </a:rPr>
              <a:t>P &amp; K binding to iron oxides &amp; clay absorption lattices</a:t>
            </a:r>
          </a:p>
        </p:txBody>
      </p:sp>
      <p:sp>
        <p:nvSpPr>
          <p:cNvPr id="13" name="TextBox 12"/>
          <p:cNvSpPr txBox="1"/>
          <p:nvPr/>
        </p:nvSpPr>
        <p:spPr>
          <a:xfrm>
            <a:off x="731520" y="5303520"/>
            <a:ext cx="10698480" cy="1188720"/>
          </a:xfrm>
          <a:prstGeom prst="rect">
            <a:avLst/>
          </a:prstGeom>
          <a:noFill/>
        </p:spPr>
        <p:txBody>
          <a:bodyPr wrap="square" lIns="0" tIns="0" rIns="0" bIns="0">
            <a:spAutoFit/>
          </a:bodyPr>
          <a:lstStyle/>
          <a:p>
            <a:pPr>
              <a:defRPr sz="1050">
                <a:solidFill>
                  <a:srgbClr val="6E7370"/>
                </a:solidFill>
                <a:latin typeface="Calibri"/>
              </a:defRPr>
            </a:pPr>
            <a:r>
              <a:t>The technical hurdles are substantial: soil properties are not directly visible from space, vegetation cover obscures the signal, and nutrient responses vary by soil type, season, and management history. The model must also handle limited ground truth, eliminate spatial autocorrelation leakage via Spatial GroupKFold, generalize across fields, and produce outputs that are interpretable and actionable rather than just statistically accurate.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SYSTEM DESIGN (1/2)</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System Architecture &amp; End-to-End Pipeline Flow</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TextBox 5"/>
          <p:cNvSpPr txBox="1"/>
          <p:nvPr/>
        </p:nvSpPr>
        <p:spPr>
          <a:xfrm>
            <a:off x="731520" y="1234440"/>
            <a:ext cx="10698480" cy="594360"/>
          </a:xfrm>
          <a:prstGeom prst="rect">
            <a:avLst/>
          </a:prstGeom>
          <a:noFill/>
        </p:spPr>
        <p:txBody>
          <a:bodyPr wrap="square" lIns="0" tIns="0" rIns="0" bIns="0">
            <a:spAutoFit/>
          </a:bodyPr>
          <a:lstStyle/>
          <a:p>
            <a:pPr>
              <a:defRPr sz="1050">
                <a:solidFill>
                  <a:srgbClr val="282C2A"/>
                </a:solidFill>
                <a:latin typeface="Calibri"/>
              </a:defRPr>
            </a:pPr>
            <a:r>
              <a:t>The system operates as an end-to-end cloud-native pipeline converting Sentinel-2 imagery into farm-scale agronomic advisory. Streaming only required pixels via STAC API range requests, it enforces multi-temporal bare-soil compositing, extracts 17+ chemometric predictors, and runs spatial multi-target regression.</a:t>
            </a:r>
          </a:p>
        </p:txBody>
      </p:sp>
      <p:sp>
        <p:nvSpPr>
          <p:cNvPr id="7" name="Rounded Rectangle 6"/>
          <p:cNvSpPr/>
          <p:nvPr/>
        </p:nvSpPr>
        <p:spPr>
          <a:xfrm>
            <a:off x="731520" y="1965960"/>
            <a:ext cx="2514600" cy="438912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65960"/>
            <a:ext cx="2514600" cy="411480"/>
          </a:xfrm>
          <a:prstGeom prst="rect">
            <a:avLst/>
          </a:prstGeom>
          <a:solidFill>
            <a:srgbClr val="5C3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STAGE 1: INGESTION</a:t>
            </a:r>
          </a:p>
        </p:txBody>
      </p:sp>
      <p:sp>
        <p:nvSpPr>
          <p:cNvPr id="9" name="TextBox 8"/>
          <p:cNvSpPr txBox="1"/>
          <p:nvPr/>
        </p:nvSpPr>
        <p:spPr>
          <a:xfrm>
            <a:off x="868680" y="2514600"/>
            <a:ext cx="2240280" cy="502920"/>
          </a:xfrm>
          <a:prstGeom prst="rect">
            <a:avLst/>
          </a:prstGeom>
          <a:noFill/>
        </p:spPr>
        <p:txBody>
          <a:bodyPr wrap="square" lIns="0" tIns="0" rIns="0" bIns="0">
            <a:spAutoFit/>
          </a:bodyPr>
          <a:lstStyle/>
          <a:p>
            <a:pPr>
              <a:defRPr sz="1200" b="1">
                <a:solidFill>
                  <a:srgbClr val="1C1E1C"/>
                </a:solidFill>
                <a:latin typeface="Georgia"/>
              </a:defRPr>
            </a:pPr>
            <a:r>
              <a:t>Cloud STAC &amp; COG Stream</a:t>
            </a:r>
          </a:p>
        </p:txBody>
      </p:sp>
      <p:sp>
        <p:nvSpPr>
          <p:cNvPr id="10" name="TextBox 9"/>
          <p:cNvSpPr txBox="1"/>
          <p:nvPr/>
        </p:nvSpPr>
        <p:spPr>
          <a:xfrm>
            <a:off x="868680" y="3063240"/>
            <a:ext cx="2240280" cy="3108960"/>
          </a:xfrm>
          <a:prstGeom prst="rect">
            <a:avLst/>
          </a:prstGeom>
          <a:noFill/>
        </p:spPr>
        <p:txBody>
          <a:bodyPr wrap="square" lIns="0" tIns="0" rIns="0" bIns="0">
            <a:spAutoFit/>
          </a:bodyPr>
          <a:lstStyle/>
          <a:p>
            <a:pPr>
              <a:defRPr sz="1000">
                <a:solidFill>
                  <a:srgbClr val="282C2A"/>
                </a:solidFill>
                <a:latin typeface="Calibri"/>
              </a:defRPr>
            </a:pPr>
            <a:r>
              <a:t>• Microsoft Planetary Computer STAC</a:t>
            </a:r>
            <a:br/>
            <a:r>
              <a:t>• Sentinel-2 L2A BOA reflectance</a:t>
            </a:r>
            <a:br/>
            <a:r>
              <a:t>• HTTP range requests on COGs</a:t>
            </a:r>
            <a:br/>
            <a:r>
              <a:t>• Sub-second bounding box crop</a:t>
            </a:r>
            <a:br/>
            <a:r>
              <a:t>• Zero local full-tile storage</a:t>
            </a:r>
          </a:p>
        </p:txBody>
      </p:sp>
      <p:sp>
        <p:nvSpPr>
          <p:cNvPr id="11" name="Right Arrow 10"/>
          <p:cNvSpPr/>
          <p:nvPr/>
        </p:nvSpPr>
        <p:spPr>
          <a:xfrm>
            <a:off x="3310128" y="3931920"/>
            <a:ext cx="182880" cy="274320"/>
          </a:xfrm>
          <a:prstGeom prst="rightArrow">
            <a:avLst/>
          </a:prstGeom>
          <a:solidFill>
            <a:srgbClr val="C47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74720" y="1965960"/>
            <a:ext cx="2514600" cy="438912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965960"/>
            <a:ext cx="2514600" cy="411480"/>
          </a:xfrm>
          <a:prstGeom prst="rect">
            <a:avLst/>
          </a:prstGeom>
          <a:solidFill>
            <a:srgbClr val="9C5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STAGE 2: FILTERING</a:t>
            </a:r>
          </a:p>
        </p:txBody>
      </p:sp>
      <p:sp>
        <p:nvSpPr>
          <p:cNvPr id="14" name="TextBox 13"/>
          <p:cNvSpPr txBox="1"/>
          <p:nvPr/>
        </p:nvSpPr>
        <p:spPr>
          <a:xfrm>
            <a:off x="3611879" y="2514600"/>
            <a:ext cx="2240280" cy="502920"/>
          </a:xfrm>
          <a:prstGeom prst="rect">
            <a:avLst/>
          </a:prstGeom>
          <a:noFill/>
        </p:spPr>
        <p:txBody>
          <a:bodyPr wrap="square" lIns="0" tIns="0" rIns="0" bIns="0">
            <a:spAutoFit/>
          </a:bodyPr>
          <a:lstStyle/>
          <a:p>
            <a:pPr>
              <a:defRPr sz="1200" b="1">
                <a:solidFill>
                  <a:srgbClr val="1C1E1C"/>
                </a:solidFill>
                <a:latin typeface="Georgia"/>
              </a:defRPr>
            </a:pPr>
            <a:r>
              <a:t>Bare Soil Compositing</a:t>
            </a:r>
          </a:p>
        </p:txBody>
      </p:sp>
      <p:sp>
        <p:nvSpPr>
          <p:cNvPr id="15" name="TextBox 14"/>
          <p:cNvSpPr txBox="1"/>
          <p:nvPr/>
        </p:nvSpPr>
        <p:spPr>
          <a:xfrm>
            <a:off x="3611879" y="3063240"/>
            <a:ext cx="2240280" cy="3108960"/>
          </a:xfrm>
          <a:prstGeom prst="rect">
            <a:avLst/>
          </a:prstGeom>
          <a:noFill/>
        </p:spPr>
        <p:txBody>
          <a:bodyPr wrap="square" lIns="0" tIns="0" rIns="0" bIns="0">
            <a:spAutoFit/>
          </a:bodyPr>
          <a:lstStyle/>
          <a:p>
            <a:pPr>
              <a:defRPr sz="1000">
                <a:solidFill>
                  <a:srgbClr val="282C2A"/>
                </a:solidFill>
                <a:latin typeface="Calibri"/>
              </a:defRPr>
            </a:pPr>
            <a:r>
              <a:t>• SCL mask (clouds, shadow, cirrus)</a:t>
            </a:r>
            <a:br/>
            <a:r>
              <a:t>• Vegetation down-weight (NDVI &lt; 0.25)</a:t>
            </a:r>
            <a:br/>
            <a:r>
              <a:t>• Bare Soil Index filter (BSI &gt; 0.0)</a:t>
            </a:r>
            <a:br/>
            <a:r>
              <a:t>• Multi-temporal median composite</a:t>
            </a:r>
            <a:br/>
            <a:r>
              <a:t>• Ephemeral surface noise cancelled</a:t>
            </a:r>
          </a:p>
        </p:txBody>
      </p:sp>
      <p:sp>
        <p:nvSpPr>
          <p:cNvPr id="16" name="Right Arrow 15"/>
          <p:cNvSpPr/>
          <p:nvPr/>
        </p:nvSpPr>
        <p:spPr>
          <a:xfrm>
            <a:off x="6053327" y="3931920"/>
            <a:ext cx="182880" cy="274320"/>
          </a:xfrm>
          <a:prstGeom prst="rightArrow">
            <a:avLst/>
          </a:prstGeom>
          <a:solidFill>
            <a:srgbClr val="C47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965960"/>
            <a:ext cx="2514600" cy="438912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965960"/>
            <a:ext cx="2514600" cy="411480"/>
          </a:xfrm>
          <a:prstGeom prst="rect">
            <a:avLst/>
          </a:prstGeom>
          <a:solidFill>
            <a:srgbClr val="C47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STAGE 3: MODELING</a:t>
            </a:r>
          </a:p>
        </p:txBody>
      </p:sp>
      <p:sp>
        <p:nvSpPr>
          <p:cNvPr id="19" name="TextBox 18"/>
          <p:cNvSpPr txBox="1"/>
          <p:nvPr/>
        </p:nvSpPr>
        <p:spPr>
          <a:xfrm>
            <a:off x="6355080" y="2514600"/>
            <a:ext cx="2240280" cy="502920"/>
          </a:xfrm>
          <a:prstGeom prst="rect">
            <a:avLst/>
          </a:prstGeom>
          <a:noFill/>
        </p:spPr>
        <p:txBody>
          <a:bodyPr wrap="square" lIns="0" tIns="0" rIns="0" bIns="0">
            <a:spAutoFit/>
          </a:bodyPr>
          <a:lstStyle/>
          <a:p>
            <a:pPr>
              <a:defRPr sz="1200" b="1">
                <a:solidFill>
                  <a:srgbClr val="1C1E1C"/>
                </a:solidFill>
                <a:latin typeface="Georgia"/>
              </a:defRPr>
            </a:pPr>
            <a:r>
              <a:t>Spatial Multi-Target ML</a:t>
            </a:r>
          </a:p>
        </p:txBody>
      </p:sp>
      <p:sp>
        <p:nvSpPr>
          <p:cNvPr id="20" name="TextBox 19"/>
          <p:cNvSpPr txBox="1"/>
          <p:nvPr/>
        </p:nvSpPr>
        <p:spPr>
          <a:xfrm>
            <a:off x="6355080" y="3063240"/>
            <a:ext cx="2240280" cy="3108960"/>
          </a:xfrm>
          <a:prstGeom prst="rect">
            <a:avLst/>
          </a:prstGeom>
          <a:noFill/>
        </p:spPr>
        <p:txBody>
          <a:bodyPr wrap="square" lIns="0" tIns="0" rIns="0" bIns="0">
            <a:spAutoFit/>
          </a:bodyPr>
          <a:lstStyle/>
          <a:p>
            <a:pPr>
              <a:defRPr sz="1000">
                <a:solidFill>
                  <a:srgbClr val="282C2A"/>
                </a:solidFill>
                <a:latin typeface="Calibri"/>
              </a:defRPr>
            </a:pPr>
            <a:r>
              <a:t>• 10 Science Bands + 7 Indices + DEM</a:t>
            </a:r>
            <a:br/>
            <a:r>
              <a:t>• Supervised XGBoost &amp; LightGBM</a:t>
            </a:r>
            <a:br/>
            <a:r>
              <a:t>• Spatial GroupKFold validation</a:t>
            </a:r>
            <a:br/>
            <a:r>
              <a:t>• Models N, P, K, pH, and SOC</a:t>
            </a:r>
            <a:br/>
            <a:r>
              <a:t>• Spatial leakage strictly eliminated</a:t>
            </a:r>
          </a:p>
        </p:txBody>
      </p:sp>
      <p:sp>
        <p:nvSpPr>
          <p:cNvPr id="21" name="Right Arrow 20"/>
          <p:cNvSpPr/>
          <p:nvPr/>
        </p:nvSpPr>
        <p:spPr>
          <a:xfrm>
            <a:off x="8796528" y="3931920"/>
            <a:ext cx="182880" cy="274320"/>
          </a:xfrm>
          <a:prstGeom prst="rightArrow">
            <a:avLst/>
          </a:prstGeom>
          <a:solidFill>
            <a:srgbClr val="C47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61120" y="1965960"/>
            <a:ext cx="2514600" cy="438912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61120" y="1965960"/>
            <a:ext cx="2514600" cy="411480"/>
          </a:xfrm>
          <a:prstGeom prst="rect">
            <a:avLst/>
          </a:prstGeom>
          <a:solidFill>
            <a:srgbClr val="2E5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Calibri"/>
              </a:defRPr>
            </a:pPr>
            <a:r>
              <a:t>STAGE 4: ADVISORY</a:t>
            </a:r>
          </a:p>
        </p:txBody>
      </p:sp>
      <p:sp>
        <p:nvSpPr>
          <p:cNvPr id="24" name="TextBox 23"/>
          <p:cNvSpPr txBox="1"/>
          <p:nvPr/>
        </p:nvSpPr>
        <p:spPr>
          <a:xfrm>
            <a:off x="9098280" y="2514600"/>
            <a:ext cx="2240280" cy="502920"/>
          </a:xfrm>
          <a:prstGeom prst="rect">
            <a:avLst/>
          </a:prstGeom>
          <a:noFill/>
        </p:spPr>
        <p:txBody>
          <a:bodyPr wrap="square" lIns="0" tIns="0" rIns="0" bIns="0">
            <a:spAutoFit/>
          </a:bodyPr>
          <a:lstStyle/>
          <a:p>
            <a:pPr>
              <a:defRPr sz="1200" b="1">
                <a:solidFill>
                  <a:srgbClr val="1C1E1C"/>
                </a:solidFill>
                <a:latin typeface="Georgia"/>
              </a:defRPr>
            </a:pPr>
            <a:r>
              <a:t>10m Heatmaps &amp; Dosage</a:t>
            </a:r>
          </a:p>
        </p:txBody>
      </p:sp>
      <p:sp>
        <p:nvSpPr>
          <p:cNvPr id="25" name="TextBox 24"/>
          <p:cNvSpPr txBox="1"/>
          <p:nvPr/>
        </p:nvSpPr>
        <p:spPr>
          <a:xfrm>
            <a:off x="9098280" y="3063240"/>
            <a:ext cx="2240280" cy="3108960"/>
          </a:xfrm>
          <a:prstGeom prst="rect">
            <a:avLst/>
          </a:prstGeom>
          <a:noFill/>
        </p:spPr>
        <p:txBody>
          <a:bodyPr wrap="square" lIns="0" tIns="0" rIns="0" bIns="0">
            <a:spAutoFit/>
          </a:bodyPr>
          <a:lstStyle/>
          <a:p>
            <a:pPr>
              <a:defRPr sz="1000">
                <a:solidFill>
                  <a:srgbClr val="282C2A"/>
                </a:solidFill>
                <a:latin typeface="Calibri"/>
              </a:defRPr>
            </a:pPr>
            <a:r>
              <a:t>• Georeferenced 10m nutrient rasters</a:t>
            </a:r>
            <a:br/>
            <a:r>
              <a:t>• Intra-field management zonation</a:t>
            </a:r>
            <a:br/>
            <a:r>
              <a:t>• Low / Medium / High Soil Card tiers</a:t>
            </a:r>
            <a:br/>
            <a:r>
              <a:t>• Precision fertilizer split (Urea, DAP, MOP)</a:t>
            </a:r>
            <a:br/>
            <a:r>
              <a:t>• Web GIS interactive interface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SYSTEM DESIGN (2/2)</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Data Pipeline &amp; Chemometric Feature Engineering</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338328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53895"/>
            <a:ext cx="3054096" cy="384048"/>
          </a:xfrm>
          <a:prstGeom prst="rect">
            <a:avLst/>
          </a:prstGeom>
          <a:noFill/>
        </p:spPr>
        <p:txBody>
          <a:bodyPr wrap="square" lIns="0" tIns="0" rIns="0" bIns="0">
            <a:spAutoFit/>
          </a:bodyPr>
          <a:lstStyle/>
          <a:p>
            <a:pPr>
              <a:defRPr sz="1300" b="1">
                <a:solidFill>
                  <a:srgbClr val="1C1E1C"/>
                </a:solidFill>
                <a:latin typeface="Georgia"/>
              </a:defRPr>
            </a:pPr>
            <a:r>
              <a:t>STAGE 1: 10 Science Bands Extraction</a:t>
            </a:r>
          </a:p>
        </p:txBody>
      </p:sp>
      <p:sp>
        <p:nvSpPr>
          <p:cNvPr id="8" name="TextBox 7"/>
          <p:cNvSpPr txBox="1"/>
          <p:nvPr/>
        </p:nvSpPr>
        <p:spPr>
          <a:xfrm>
            <a:off x="914400" y="1920240"/>
            <a:ext cx="3017520" cy="4206240"/>
          </a:xfrm>
          <a:prstGeom prst="rect">
            <a:avLst/>
          </a:prstGeom>
          <a:noFill/>
        </p:spPr>
        <p:txBody>
          <a:bodyPr wrap="square" lIns="0" tIns="0" rIns="0" bIns="0">
            <a:spAutoFit/>
          </a:bodyPr>
          <a:lstStyle/>
          <a:p>
            <a:pPr>
              <a:defRPr sz="1050">
                <a:solidFill>
                  <a:srgbClr val="282C2A"/>
                </a:solidFill>
                <a:latin typeface="Calibri"/>
              </a:defRPr>
            </a:pPr>
            <a:r>
              <a:t>• B02 (Blue 490nm): Iron oxide baseline</a:t>
            </a:r>
            <a:br/>
            <a:r>
              <a:t>• B03 (Green 560nm): Residue separation</a:t>
            </a:r>
            <a:br/>
            <a:r>
              <a:t>• B04 (Red 665nm): Soil line baseline</a:t>
            </a:r>
            <a:br/>
            <a:r>
              <a:t>• B05, B06, B07 (Red Edge 705-783nm): Nitrogen &amp; Chlorophyll proxy</a:t>
            </a:r>
            <a:br/>
            <a:r>
              <a:t>• B08, B8A (NIR 842-865nm): Biomass &amp; Hematite/Goethite</a:t>
            </a:r>
            <a:br/>
            <a:r>
              <a:t>• B11 (SWIR-1 1610nm): Organic Carbon &amp; Soil Moisture</a:t>
            </a:r>
            <a:br/>
            <a:r>
              <a:t>• B12 (SWIR-2 2190nm): Clay minerals, P, K &amp; Calcite (pH)</a:t>
            </a:r>
          </a:p>
        </p:txBody>
      </p:sp>
      <p:sp>
        <p:nvSpPr>
          <p:cNvPr id="9" name="Rounded Rectangle 8"/>
          <p:cNvSpPr/>
          <p:nvPr/>
        </p:nvSpPr>
        <p:spPr>
          <a:xfrm>
            <a:off x="4389120" y="1325880"/>
            <a:ext cx="338328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453895"/>
            <a:ext cx="3054096" cy="384048"/>
          </a:xfrm>
          <a:prstGeom prst="rect">
            <a:avLst/>
          </a:prstGeom>
          <a:noFill/>
        </p:spPr>
        <p:txBody>
          <a:bodyPr wrap="square" lIns="0" tIns="0" rIns="0" bIns="0">
            <a:spAutoFit/>
          </a:bodyPr>
          <a:lstStyle/>
          <a:p>
            <a:pPr>
              <a:defRPr sz="1300" b="1">
                <a:solidFill>
                  <a:srgbClr val="1C1E1C"/>
                </a:solidFill>
                <a:latin typeface="Georgia"/>
              </a:defRPr>
            </a:pPr>
            <a:r>
              <a:t>STAGE 2: Geochemical Index Engine</a:t>
            </a:r>
          </a:p>
        </p:txBody>
      </p:sp>
      <p:sp>
        <p:nvSpPr>
          <p:cNvPr id="11" name="TextBox 10"/>
          <p:cNvSpPr txBox="1"/>
          <p:nvPr/>
        </p:nvSpPr>
        <p:spPr>
          <a:xfrm>
            <a:off x="4572000" y="1920240"/>
            <a:ext cx="3017520" cy="4206240"/>
          </a:xfrm>
          <a:prstGeom prst="rect">
            <a:avLst/>
          </a:prstGeom>
          <a:noFill/>
        </p:spPr>
        <p:txBody>
          <a:bodyPr wrap="square" lIns="0" tIns="0" rIns="0" bIns="0">
            <a:spAutoFit/>
          </a:bodyPr>
          <a:lstStyle/>
          <a:p>
            <a:pPr>
              <a:defRPr sz="1050">
                <a:solidFill>
                  <a:srgbClr val="282C2A"/>
                </a:solidFill>
                <a:latin typeface="Calibri"/>
              </a:defRPr>
            </a:pPr>
            <a:r>
              <a:t>• Bare Soil Index (BSI):</a:t>
            </a:r>
            <a:br/>
            <a:r>
              <a:t>  ((B11+B4)-(B8+B2)) / ((B11+B4)+(B8+B2))</a:t>
            </a:r>
            <a:br/>
            <a:br/>
            <a:r>
              <a:t>• Clay Mineral Ratio (CMR):</a:t>
            </a:r>
            <a:br/>
            <a:r>
              <a:t>  B11 / B12 (Proxy for Clay, P, and K CEC)</a:t>
            </a:r>
            <a:br/>
            <a:br/>
            <a:r>
              <a:t>• Ferric Iron Index (FII):</a:t>
            </a:r>
            <a:br/>
            <a:r>
              <a:t>  B4 / B2 (Phosphate adsorption sites)</a:t>
            </a:r>
            <a:br/>
            <a:br/>
            <a:r>
              <a:t>• Carbonate Index (CI):</a:t>
            </a:r>
            <a:br/>
            <a:r>
              <a:t>  B12 / B11 (Calcite at 2340nm for pH)</a:t>
            </a:r>
            <a:br/>
            <a:br/>
            <a:r>
              <a:t>• Red Edge Nitrogen (NDRE):</a:t>
            </a:r>
            <a:br/>
            <a:r>
              <a:t>  (B8-B5) / (B8+B5) (Canopy RuBisCO N)</a:t>
            </a:r>
            <a:br/>
            <a:br/>
            <a:r>
              <a:t>• Soil Brightness Index (SBI):</a:t>
            </a:r>
            <a:br/>
            <a:r>
              <a:t>  sqrt((B4² + B3² + B8²) / 3)</a:t>
            </a:r>
          </a:p>
        </p:txBody>
      </p:sp>
      <p:sp>
        <p:nvSpPr>
          <p:cNvPr id="12" name="Rounded Rectangle 11"/>
          <p:cNvSpPr/>
          <p:nvPr/>
        </p:nvSpPr>
        <p:spPr>
          <a:xfrm>
            <a:off x="8046720" y="1325880"/>
            <a:ext cx="338328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453895"/>
            <a:ext cx="3054096" cy="384048"/>
          </a:xfrm>
          <a:prstGeom prst="rect">
            <a:avLst/>
          </a:prstGeom>
          <a:noFill/>
        </p:spPr>
        <p:txBody>
          <a:bodyPr wrap="square" lIns="0" tIns="0" rIns="0" bIns="0">
            <a:spAutoFit/>
          </a:bodyPr>
          <a:lstStyle/>
          <a:p>
            <a:pPr>
              <a:defRPr sz="1300" b="1">
                <a:solidFill>
                  <a:srgbClr val="1C1E1C"/>
                </a:solidFill>
                <a:latin typeface="Georgia"/>
              </a:defRPr>
            </a:pPr>
            <a:r>
              <a:t>STAGE 3: ML Model &amp; Validation Suite</a:t>
            </a:r>
          </a:p>
        </p:txBody>
      </p:sp>
      <p:sp>
        <p:nvSpPr>
          <p:cNvPr id="14" name="TextBox 13"/>
          <p:cNvSpPr txBox="1"/>
          <p:nvPr/>
        </p:nvSpPr>
        <p:spPr>
          <a:xfrm>
            <a:off x="8229600" y="1920240"/>
            <a:ext cx="3017520" cy="4206240"/>
          </a:xfrm>
          <a:prstGeom prst="rect">
            <a:avLst/>
          </a:prstGeom>
          <a:noFill/>
        </p:spPr>
        <p:txBody>
          <a:bodyPr wrap="square" lIns="0" tIns="0" rIns="0" bIns="0">
            <a:spAutoFit/>
          </a:bodyPr>
          <a:lstStyle/>
          <a:p>
            <a:pPr>
              <a:defRPr sz="1050">
                <a:solidFill>
                  <a:srgbClr val="282C2A"/>
                </a:solidFill>
                <a:latin typeface="Calibri"/>
              </a:defRPr>
            </a:pPr>
            <a:r>
              <a:t>• Input Tensor: 10 Bands + 7 Indices + DEM</a:t>
            </a:r>
            <a:br/>
            <a:br/>
            <a:r>
              <a:t>• Target Chemical Array:</a:t>
            </a:r>
            <a:br/>
            <a:r>
              <a:t>  [Available N, Available P, Exch. K, pH, SOC]</a:t>
            </a:r>
            <a:br/>
            <a:br/>
            <a:r>
              <a:t>• Regression Algorithms:</a:t>
            </a:r>
            <a:br/>
            <a:r>
              <a:t>  XGBoost, LightGBM, Random Forest Regressors</a:t>
            </a:r>
            <a:br/>
            <a:br/>
            <a:r>
              <a:t>• Spatial Block Cross-Validation:</a:t>
            </a:r>
            <a:br/>
            <a:r>
              <a:t>  GroupKFold by regional administrative</a:t>
            </a:r>
            <a:br/>
            <a:r>
              <a:t>  clusters to strictly eliminate spatial leakage</a:t>
            </a:r>
            <a:br/>
            <a:br/>
            <a:r>
              <a:t>• Evaluation Metrics:</a:t>
            </a:r>
            <a:br/>
            <a:r>
              <a:t>  R² (Goodness of fit), RMSE, and RPIQ</a:t>
            </a:r>
            <a:br/>
            <a:r>
              <a:t>  (Ratio of Performance to InterQuartile distance)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PROJECT ROADMAP</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Objectives, Execution Plan &amp; Expected Outcomes</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234440"/>
            <a:ext cx="5212080" cy="146304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362456"/>
            <a:ext cx="4882896" cy="384048"/>
          </a:xfrm>
          <a:prstGeom prst="rect">
            <a:avLst/>
          </a:prstGeom>
          <a:noFill/>
        </p:spPr>
        <p:txBody>
          <a:bodyPr wrap="square" lIns="0" tIns="0" rIns="0" bIns="0">
            <a:spAutoFit/>
          </a:bodyPr>
          <a:lstStyle/>
          <a:p>
            <a:pPr>
              <a:defRPr sz="1300" b="1">
                <a:solidFill>
                  <a:srgbClr val="1C1E1C"/>
                </a:solidFill>
                <a:latin typeface="Georgia"/>
              </a:defRPr>
            </a:pPr>
            <a:r>
              <a:t>Objectives</a:t>
            </a:r>
          </a:p>
        </p:txBody>
      </p:sp>
      <p:sp>
        <p:nvSpPr>
          <p:cNvPr id="8" name="TextBox 7"/>
          <p:cNvSpPr txBox="1"/>
          <p:nvPr/>
        </p:nvSpPr>
        <p:spPr>
          <a:xfrm>
            <a:off x="914400" y="1645920"/>
            <a:ext cx="4846320" cy="960120"/>
          </a:xfrm>
          <a:prstGeom prst="rect">
            <a:avLst/>
          </a:prstGeom>
          <a:noFill/>
        </p:spPr>
        <p:txBody>
          <a:bodyPr wrap="square" lIns="0" tIns="0" rIns="0" bIns="0">
            <a:spAutoFit/>
          </a:bodyPr>
          <a:lstStyle/>
          <a:p>
            <a:pPr>
              <a:defRPr sz="950">
                <a:solidFill>
                  <a:srgbClr val="282C2A"/>
                </a:solidFill>
                <a:latin typeface="Calibri"/>
              </a:defRPr>
            </a:pPr>
            <a:r>
              <a:t>• Automate STAC/COG ingestion for sub-second farm-level access.</a:t>
            </a:r>
            <a:br/>
            <a:r>
              <a:t>• Isolate bare soil via temporal NDVI/BSI filters and SCL masks.</a:t>
            </a:r>
            <a:br/>
            <a:r>
              <a:t>• Engineer spectral + geo indices; train XGBoost/LightGBM with spatial CV.</a:t>
            </a:r>
            <a:br/>
            <a:r>
              <a:t>• Deliver 10m heatmaps and farmer-friendly Soil Health Card tiers.</a:t>
            </a:r>
          </a:p>
        </p:txBody>
      </p:sp>
      <p:sp>
        <p:nvSpPr>
          <p:cNvPr id="9" name="Rounded Rectangle 8"/>
          <p:cNvSpPr/>
          <p:nvPr/>
        </p:nvSpPr>
        <p:spPr>
          <a:xfrm>
            <a:off x="6217920" y="1234440"/>
            <a:ext cx="5212080" cy="146304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362456"/>
            <a:ext cx="4882896" cy="384048"/>
          </a:xfrm>
          <a:prstGeom prst="rect">
            <a:avLst/>
          </a:prstGeom>
          <a:noFill/>
        </p:spPr>
        <p:txBody>
          <a:bodyPr wrap="square" lIns="0" tIns="0" rIns="0" bIns="0">
            <a:spAutoFit/>
          </a:bodyPr>
          <a:lstStyle/>
          <a:p>
            <a:pPr>
              <a:defRPr sz="1300" b="1">
                <a:solidFill>
                  <a:srgbClr val="1C1E1C"/>
                </a:solidFill>
                <a:latin typeface="Georgia"/>
              </a:defRPr>
            </a:pPr>
            <a:r>
              <a:t>Execution &amp; Outcomes</a:t>
            </a:r>
          </a:p>
        </p:txBody>
      </p:sp>
      <p:sp>
        <p:nvSpPr>
          <p:cNvPr id="11" name="TextBox 10"/>
          <p:cNvSpPr txBox="1"/>
          <p:nvPr/>
        </p:nvSpPr>
        <p:spPr>
          <a:xfrm>
            <a:off x="6400800" y="1645920"/>
            <a:ext cx="4846320" cy="960120"/>
          </a:xfrm>
          <a:prstGeom prst="rect">
            <a:avLst/>
          </a:prstGeom>
          <a:noFill/>
        </p:spPr>
        <p:txBody>
          <a:bodyPr wrap="square" lIns="0" tIns="0" rIns="0" bIns="0">
            <a:spAutoFit/>
          </a:bodyPr>
          <a:lstStyle/>
          <a:p>
            <a:pPr>
              <a:defRPr sz="950">
                <a:solidFill>
                  <a:srgbClr val="282C2A"/>
                </a:solidFill>
                <a:latin typeface="Calibri"/>
              </a:defRPr>
            </a:pPr>
            <a:r>
              <a:t>• Phase 1 completed: literature survey, STAC access, benchmark datasets, spatial CV framework.</a:t>
            </a:r>
            <a:br/>
            <a:r>
              <a:t>• Upcoming phases: feature extraction, ML benchmarking, raster inference engine, Web GIS advisory.</a:t>
            </a:r>
            <a:br/>
            <a:r>
              <a:t>• Expected outcomes: validated regression suite for N/P/K/pH/SOC, continuous 10m intra-field maps, actionable fertilizer advisory engine.</a:t>
            </a:r>
          </a:p>
        </p:txBody>
      </p:sp>
      <p:sp>
        <p:nvSpPr>
          <p:cNvPr id="12" name="Rounded Rectangle 11"/>
          <p:cNvSpPr/>
          <p:nvPr/>
        </p:nvSpPr>
        <p:spPr>
          <a:xfrm>
            <a:off x="731520" y="2834640"/>
            <a:ext cx="2514600" cy="192024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2656"/>
            <a:ext cx="2185416" cy="384048"/>
          </a:xfrm>
          <a:prstGeom prst="rect">
            <a:avLst/>
          </a:prstGeom>
          <a:noFill/>
        </p:spPr>
        <p:txBody>
          <a:bodyPr wrap="square" lIns="0" tIns="0" rIns="0" bIns="0">
            <a:spAutoFit/>
          </a:bodyPr>
          <a:lstStyle/>
          <a:p>
            <a:pPr>
              <a:defRPr sz="1300" b="1">
                <a:solidFill>
                  <a:srgbClr val="1C1E1C"/>
                </a:solidFill>
                <a:latin typeface="Georgia"/>
              </a:defRPr>
            </a:pPr>
            <a:r>
              <a:t>Phase 1 — Foundations</a:t>
            </a:r>
            <a:br/>
            <a:r>
              <a:t>Weeks 1–4 [COMPLETED]</a:t>
            </a:r>
          </a:p>
        </p:txBody>
      </p:sp>
      <p:sp>
        <p:nvSpPr>
          <p:cNvPr id="14" name="TextBox 13"/>
          <p:cNvSpPr txBox="1"/>
          <p:nvPr/>
        </p:nvSpPr>
        <p:spPr>
          <a:xfrm>
            <a:off x="868680" y="3474720"/>
            <a:ext cx="2240280" cy="1188720"/>
          </a:xfrm>
          <a:prstGeom prst="rect">
            <a:avLst/>
          </a:prstGeom>
          <a:noFill/>
        </p:spPr>
        <p:txBody>
          <a:bodyPr wrap="square" lIns="0" tIns="0" rIns="0" bIns="0">
            <a:spAutoFit/>
          </a:bodyPr>
          <a:lstStyle/>
          <a:p>
            <a:pPr>
              <a:defRPr sz="950">
                <a:solidFill>
                  <a:srgbClr val="282C2A"/>
                </a:solidFill>
                <a:latin typeface="Calibri"/>
              </a:defRPr>
            </a:pPr>
            <a:r>
              <a:t>• Literature review &amp; target definition</a:t>
            </a:r>
            <a:br/>
            <a:r>
              <a:t>• STAC catalog access &amp; COG retrieval</a:t>
            </a:r>
            <a:br/>
            <a:r>
              <a:t>• Benchmark labels &amp; spatial CV setup</a:t>
            </a:r>
          </a:p>
        </p:txBody>
      </p:sp>
      <p:sp>
        <p:nvSpPr>
          <p:cNvPr id="15" name="Rounded Rectangle 14"/>
          <p:cNvSpPr/>
          <p:nvPr/>
        </p:nvSpPr>
        <p:spPr>
          <a:xfrm>
            <a:off x="3474720" y="2834640"/>
            <a:ext cx="2514600" cy="192024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9312" y="2962656"/>
            <a:ext cx="2185416" cy="384048"/>
          </a:xfrm>
          <a:prstGeom prst="rect">
            <a:avLst/>
          </a:prstGeom>
          <a:noFill/>
        </p:spPr>
        <p:txBody>
          <a:bodyPr wrap="square" lIns="0" tIns="0" rIns="0" bIns="0">
            <a:spAutoFit/>
          </a:bodyPr>
          <a:lstStyle/>
          <a:p>
            <a:pPr>
              <a:defRPr sz="1300" b="1">
                <a:solidFill>
                  <a:srgbClr val="1C1E1C"/>
                </a:solidFill>
                <a:latin typeface="Georgia"/>
              </a:defRPr>
            </a:pPr>
            <a:r>
              <a:t>Phase 2 — Feature Pipeline</a:t>
            </a:r>
            <a:br/>
            <a:r>
              <a:t>Weeks 5–8 [UPCOMING]</a:t>
            </a:r>
          </a:p>
        </p:txBody>
      </p:sp>
      <p:sp>
        <p:nvSpPr>
          <p:cNvPr id="17" name="TextBox 16"/>
          <p:cNvSpPr txBox="1"/>
          <p:nvPr/>
        </p:nvSpPr>
        <p:spPr>
          <a:xfrm>
            <a:off x="3611879" y="3474720"/>
            <a:ext cx="2240280" cy="1188720"/>
          </a:xfrm>
          <a:prstGeom prst="rect">
            <a:avLst/>
          </a:prstGeom>
          <a:noFill/>
        </p:spPr>
        <p:txBody>
          <a:bodyPr wrap="square" lIns="0" tIns="0" rIns="0" bIns="0">
            <a:spAutoFit/>
          </a:bodyPr>
          <a:lstStyle/>
          <a:p>
            <a:pPr>
              <a:defRPr sz="950">
                <a:solidFill>
                  <a:srgbClr val="282C2A"/>
                </a:solidFill>
                <a:latin typeface="Calibri"/>
              </a:defRPr>
            </a:pPr>
            <a:r>
              <a:t>• SCL cloud masking &amp; temporal rules</a:t>
            </a:r>
            <a:br/>
            <a:r>
              <a:t>• Bare-soil compositing (NDVI/BSI)</a:t>
            </a:r>
            <a:br/>
            <a:r>
              <a:t>• Spectral, mineral, &amp; geo indices</a:t>
            </a:r>
          </a:p>
        </p:txBody>
      </p:sp>
      <p:sp>
        <p:nvSpPr>
          <p:cNvPr id="18" name="Rounded Rectangle 17"/>
          <p:cNvSpPr/>
          <p:nvPr/>
        </p:nvSpPr>
        <p:spPr>
          <a:xfrm>
            <a:off x="6217920" y="2834640"/>
            <a:ext cx="2514600" cy="192024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2962656"/>
            <a:ext cx="2185416" cy="384048"/>
          </a:xfrm>
          <a:prstGeom prst="rect">
            <a:avLst/>
          </a:prstGeom>
          <a:noFill/>
        </p:spPr>
        <p:txBody>
          <a:bodyPr wrap="square" lIns="0" tIns="0" rIns="0" bIns="0">
            <a:spAutoFit/>
          </a:bodyPr>
          <a:lstStyle/>
          <a:p>
            <a:pPr>
              <a:defRPr sz="1300" b="1">
                <a:solidFill>
                  <a:srgbClr val="1C1E1C"/>
                </a:solidFill>
                <a:latin typeface="Georgia"/>
              </a:defRPr>
            </a:pPr>
            <a:r>
              <a:t>Phase 3 — ML Benchmarking</a:t>
            </a:r>
            <a:br/>
            <a:r>
              <a:t>Weeks 9–12 [UPCOMING]</a:t>
            </a:r>
          </a:p>
        </p:txBody>
      </p:sp>
      <p:sp>
        <p:nvSpPr>
          <p:cNvPr id="20" name="TextBox 19"/>
          <p:cNvSpPr txBox="1"/>
          <p:nvPr/>
        </p:nvSpPr>
        <p:spPr>
          <a:xfrm>
            <a:off x="6355080" y="3474720"/>
            <a:ext cx="2240280" cy="1188720"/>
          </a:xfrm>
          <a:prstGeom prst="rect">
            <a:avLst/>
          </a:prstGeom>
          <a:noFill/>
        </p:spPr>
        <p:txBody>
          <a:bodyPr wrap="square" lIns="0" tIns="0" rIns="0" bIns="0">
            <a:spAutoFit/>
          </a:bodyPr>
          <a:lstStyle/>
          <a:p>
            <a:pPr>
              <a:defRPr sz="950">
                <a:solidFill>
                  <a:srgbClr val="282C2A"/>
                </a:solidFill>
                <a:latin typeface="Calibri"/>
              </a:defRPr>
            </a:pPr>
            <a:r>
              <a:t>• Train XGBoost &amp; LightGBM for NPK</a:t>
            </a:r>
            <a:br/>
            <a:r>
              <a:t>• Spatial GroupKFold generalization</a:t>
            </a:r>
            <a:br/>
            <a:r>
              <a:t>• Feature importance &amp; error slicing</a:t>
            </a:r>
          </a:p>
        </p:txBody>
      </p:sp>
      <p:sp>
        <p:nvSpPr>
          <p:cNvPr id="21" name="Rounded Rectangle 20"/>
          <p:cNvSpPr/>
          <p:nvPr/>
        </p:nvSpPr>
        <p:spPr>
          <a:xfrm>
            <a:off x="8961120" y="2834640"/>
            <a:ext cx="2514600" cy="192024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25712" y="2962656"/>
            <a:ext cx="2185416" cy="384048"/>
          </a:xfrm>
          <a:prstGeom prst="rect">
            <a:avLst/>
          </a:prstGeom>
          <a:noFill/>
        </p:spPr>
        <p:txBody>
          <a:bodyPr wrap="square" lIns="0" tIns="0" rIns="0" bIns="0">
            <a:spAutoFit/>
          </a:bodyPr>
          <a:lstStyle/>
          <a:p>
            <a:pPr>
              <a:defRPr sz="1300" b="1">
                <a:solidFill>
                  <a:srgbClr val="1C1E1C"/>
                </a:solidFill>
                <a:latin typeface="Georgia"/>
              </a:defRPr>
            </a:pPr>
            <a:r>
              <a:t>Phase 4 — Inference &amp; GIS</a:t>
            </a:r>
            <a:br/>
            <a:r>
              <a:t>Weeks 13–16 [UPCOMING]</a:t>
            </a:r>
          </a:p>
        </p:txBody>
      </p:sp>
      <p:sp>
        <p:nvSpPr>
          <p:cNvPr id="23" name="TextBox 22"/>
          <p:cNvSpPr txBox="1"/>
          <p:nvPr/>
        </p:nvSpPr>
        <p:spPr>
          <a:xfrm>
            <a:off x="9098280" y="3474720"/>
            <a:ext cx="2240280" cy="1188720"/>
          </a:xfrm>
          <a:prstGeom prst="rect">
            <a:avLst/>
          </a:prstGeom>
          <a:noFill/>
        </p:spPr>
        <p:txBody>
          <a:bodyPr wrap="square" lIns="0" tIns="0" rIns="0" bIns="0">
            <a:spAutoFit/>
          </a:bodyPr>
          <a:lstStyle/>
          <a:p>
            <a:pPr>
              <a:defRPr sz="950">
                <a:solidFill>
                  <a:srgbClr val="282C2A"/>
                </a:solidFill>
                <a:latin typeface="Calibri"/>
              </a:defRPr>
            </a:pPr>
            <a:r>
              <a:t>• Raster inference engine (10m surfaces)</a:t>
            </a:r>
            <a:br/>
            <a:r>
              <a:t>• Zonation maps &amp; fertilizer dosage</a:t>
            </a:r>
            <a:br/>
            <a:r>
              <a:t>• Web GIS integration &amp; farmer review</a:t>
            </a:r>
          </a:p>
        </p:txBody>
      </p:sp>
      <p:sp>
        <p:nvSpPr>
          <p:cNvPr id="24" name="TextBox 23"/>
          <p:cNvSpPr txBox="1"/>
          <p:nvPr/>
        </p:nvSpPr>
        <p:spPr>
          <a:xfrm>
            <a:off x="731520" y="4983480"/>
            <a:ext cx="2514600" cy="1463040"/>
          </a:xfrm>
          <a:prstGeom prst="rect">
            <a:avLst/>
          </a:prstGeom>
          <a:noFill/>
        </p:spPr>
        <p:txBody>
          <a:bodyPr wrap="square" lIns="0" tIns="0" rIns="0" bIns="0">
            <a:spAutoFit/>
          </a:bodyPr>
          <a:lstStyle/>
          <a:p>
            <a:pPr>
              <a:spcAft>
                <a:spcPts val="200"/>
              </a:spcAft>
              <a:defRPr sz="1050" b="1">
                <a:solidFill>
                  <a:srgbClr val="C47E30"/>
                </a:solidFill>
                <a:latin typeface="Calibri"/>
              </a:defRPr>
            </a:pPr>
            <a:r>
              <a:t>01 Validation approach</a:t>
            </a:r>
          </a:p>
          <a:p>
            <a:pPr>
              <a:defRPr sz="900">
                <a:solidFill>
                  <a:srgbClr val="6E7370"/>
                </a:solidFill>
                <a:latin typeface="Calibri"/>
              </a:defRPr>
            </a:pPr>
            <a:r>
              <a:t>Validate data quality first, then accuracy, then advisory usefulness via spatial CV &amp; holdouts.</a:t>
            </a:r>
          </a:p>
        </p:txBody>
      </p:sp>
      <p:sp>
        <p:nvSpPr>
          <p:cNvPr id="25" name="TextBox 24"/>
          <p:cNvSpPr txBox="1"/>
          <p:nvPr/>
        </p:nvSpPr>
        <p:spPr>
          <a:xfrm>
            <a:off x="3474720" y="4983480"/>
            <a:ext cx="2514600" cy="1463040"/>
          </a:xfrm>
          <a:prstGeom prst="rect">
            <a:avLst/>
          </a:prstGeom>
          <a:noFill/>
        </p:spPr>
        <p:txBody>
          <a:bodyPr wrap="square" lIns="0" tIns="0" rIns="0" bIns="0">
            <a:spAutoFit/>
          </a:bodyPr>
          <a:lstStyle/>
          <a:p>
            <a:pPr>
              <a:spcAft>
                <a:spcPts val="200"/>
              </a:spcAft>
              <a:defRPr sz="1050" b="1">
                <a:solidFill>
                  <a:srgbClr val="C47E30"/>
                </a:solidFill>
                <a:latin typeface="Calibri"/>
              </a:defRPr>
            </a:pPr>
            <a:r>
              <a:t>02 KPIs</a:t>
            </a:r>
          </a:p>
          <a:p>
            <a:pPr>
              <a:defRPr sz="900">
                <a:solidFill>
                  <a:srgbClr val="6E7370"/>
                </a:solidFill>
                <a:latin typeface="Calibri"/>
              </a:defRPr>
            </a:pPr>
            <a:r>
              <a:t>Ingestion latency (&lt;2s), cloud-free compositing rate, cross-validated R² by nutrient, inference throughput.</a:t>
            </a:r>
          </a:p>
        </p:txBody>
      </p:sp>
      <p:sp>
        <p:nvSpPr>
          <p:cNvPr id="26" name="TextBox 25"/>
          <p:cNvSpPr txBox="1"/>
          <p:nvPr/>
        </p:nvSpPr>
        <p:spPr>
          <a:xfrm>
            <a:off x="6217920" y="4983480"/>
            <a:ext cx="2514600" cy="1463040"/>
          </a:xfrm>
          <a:prstGeom prst="rect">
            <a:avLst/>
          </a:prstGeom>
          <a:noFill/>
        </p:spPr>
        <p:txBody>
          <a:bodyPr wrap="square" lIns="0" tIns="0" rIns="0" bIns="0">
            <a:spAutoFit/>
          </a:bodyPr>
          <a:lstStyle/>
          <a:p>
            <a:pPr>
              <a:spcAft>
                <a:spcPts val="200"/>
              </a:spcAft>
              <a:defRPr sz="1050" b="1">
                <a:solidFill>
                  <a:srgbClr val="C47E30"/>
                </a:solidFill>
                <a:latin typeface="Calibri"/>
              </a:defRPr>
            </a:pPr>
            <a:r>
              <a:t>03 Team responsibilities</a:t>
            </a:r>
          </a:p>
          <a:p>
            <a:pPr>
              <a:defRPr sz="900">
                <a:solidFill>
                  <a:srgbClr val="6E7370"/>
                </a:solidFill>
                <a:latin typeface="Calibri"/>
              </a:defRPr>
            </a:pPr>
            <a:r>
              <a:t>Remote sensing lead (imagery), ML lead (models), GIS engineer (pipelines), Agronomist (advisory).</a:t>
            </a:r>
          </a:p>
        </p:txBody>
      </p:sp>
      <p:sp>
        <p:nvSpPr>
          <p:cNvPr id="27" name="TextBox 26"/>
          <p:cNvSpPr txBox="1"/>
          <p:nvPr/>
        </p:nvSpPr>
        <p:spPr>
          <a:xfrm>
            <a:off x="8961120" y="4983480"/>
            <a:ext cx="2514600" cy="1463040"/>
          </a:xfrm>
          <a:prstGeom prst="rect">
            <a:avLst/>
          </a:prstGeom>
          <a:noFill/>
        </p:spPr>
        <p:txBody>
          <a:bodyPr wrap="square" lIns="0" tIns="0" rIns="0" bIns="0">
            <a:spAutoFit/>
          </a:bodyPr>
          <a:lstStyle/>
          <a:p>
            <a:pPr>
              <a:spcAft>
                <a:spcPts val="200"/>
              </a:spcAft>
              <a:defRPr sz="1050" b="1">
                <a:solidFill>
                  <a:srgbClr val="C47E30"/>
                </a:solidFill>
                <a:latin typeface="Calibri"/>
              </a:defRPr>
            </a:pPr>
            <a:r>
              <a:t>04 Resource requirements</a:t>
            </a:r>
          </a:p>
          <a:p>
            <a:pPr>
              <a:defRPr sz="900">
                <a:solidFill>
                  <a:srgbClr val="6E7370"/>
                </a:solidFill>
                <a:latin typeface="Calibri"/>
              </a:defRPr>
            </a:pPr>
            <a:r>
              <a:t>Cloud object storage, compute for training, geospatial libraries (Rasterio), reference soil samples.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APPLICATIONS &amp; IMPACT</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Applications &amp; Practical Relevance</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1069848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325880"/>
            <a:ext cx="109728" cy="896112"/>
          </a:xfrm>
          <a:prstGeom prst="roundRect">
            <a:avLst/>
          </a:prstGeom>
          <a:solidFill>
            <a:srgbClr val="2E5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17320"/>
            <a:ext cx="10241280" cy="731520"/>
          </a:xfrm>
          <a:prstGeom prst="rect">
            <a:avLst/>
          </a:prstGeom>
          <a:noFill/>
        </p:spPr>
        <p:txBody>
          <a:bodyPr wrap="square" lIns="0" tIns="0" rIns="0" bIns="0">
            <a:spAutoFit/>
          </a:bodyPr>
          <a:lstStyle/>
          <a:p>
            <a:pPr>
              <a:spcAft>
                <a:spcPts val="200"/>
              </a:spcAft>
              <a:defRPr sz="1200" b="1">
                <a:solidFill>
                  <a:srgbClr val="1C1E1C"/>
                </a:solidFill>
                <a:latin typeface="Georgia"/>
              </a:defRPr>
            </a:pPr>
            <a:r>
              <a:t>Precision Agriculture &amp; Variable Rate Application (VRA)</a:t>
            </a:r>
          </a:p>
          <a:p>
            <a:pPr>
              <a:defRPr sz="1000">
                <a:solidFill>
                  <a:srgbClr val="282C2A"/>
                </a:solidFill>
                <a:latin typeface="Calibri"/>
              </a:defRPr>
            </a:pPr>
            <a:r>
              <a:t>Enables modern tractor sprayers and drone spreaders to apply differential fertilizer dosages across high-deficiency and high-fertility zones within the same parcel, reducing input costs by up to 25%.</a:t>
            </a:r>
          </a:p>
        </p:txBody>
      </p:sp>
      <p:sp>
        <p:nvSpPr>
          <p:cNvPr id="9" name="Rounded Rectangle 8"/>
          <p:cNvSpPr/>
          <p:nvPr/>
        </p:nvSpPr>
        <p:spPr>
          <a:xfrm>
            <a:off x="731520" y="2331720"/>
            <a:ext cx="1069848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331720"/>
            <a:ext cx="109728" cy="896112"/>
          </a:xfrm>
          <a:prstGeom prst="roundRect">
            <a:avLst/>
          </a:prstGeom>
          <a:solidFill>
            <a:srgbClr val="2E5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423160"/>
            <a:ext cx="10241280" cy="731520"/>
          </a:xfrm>
          <a:prstGeom prst="rect">
            <a:avLst/>
          </a:prstGeom>
          <a:noFill/>
        </p:spPr>
        <p:txBody>
          <a:bodyPr wrap="square" lIns="0" tIns="0" rIns="0" bIns="0">
            <a:spAutoFit/>
          </a:bodyPr>
          <a:lstStyle/>
          <a:p>
            <a:pPr>
              <a:spcAft>
                <a:spcPts val="200"/>
              </a:spcAft>
              <a:defRPr sz="1200" b="1">
                <a:solidFill>
                  <a:srgbClr val="1C1E1C"/>
                </a:solidFill>
                <a:latin typeface="Georgia"/>
              </a:defRPr>
            </a:pPr>
            <a:r>
              <a:t>Accessible Digital Soil Health Cards for Smallholders</a:t>
            </a:r>
          </a:p>
          <a:p>
            <a:pPr>
              <a:defRPr sz="1000">
                <a:solidFill>
                  <a:srgbClr val="282C2A"/>
                </a:solidFill>
                <a:latin typeface="Calibri"/>
              </a:defRPr>
            </a:pPr>
            <a:r>
              <a:t>Provides instantaneous, free soil condition assessments for smallholder farmers who lack physical access to government soil testing laboratories or cannot afford private testing fees.</a:t>
            </a:r>
          </a:p>
        </p:txBody>
      </p:sp>
      <p:sp>
        <p:nvSpPr>
          <p:cNvPr id="12" name="Rounded Rectangle 11"/>
          <p:cNvSpPr/>
          <p:nvPr/>
        </p:nvSpPr>
        <p:spPr>
          <a:xfrm>
            <a:off x="731520" y="3337560"/>
            <a:ext cx="1069848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3337560"/>
            <a:ext cx="109728" cy="896112"/>
          </a:xfrm>
          <a:prstGeom prst="roundRect">
            <a:avLst/>
          </a:prstGeom>
          <a:solidFill>
            <a:srgbClr val="2E5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429000"/>
            <a:ext cx="10241280" cy="731520"/>
          </a:xfrm>
          <a:prstGeom prst="rect">
            <a:avLst/>
          </a:prstGeom>
          <a:noFill/>
        </p:spPr>
        <p:txBody>
          <a:bodyPr wrap="square" lIns="0" tIns="0" rIns="0" bIns="0">
            <a:spAutoFit/>
          </a:bodyPr>
          <a:lstStyle/>
          <a:p>
            <a:pPr>
              <a:spcAft>
                <a:spcPts val="200"/>
              </a:spcAft>
              <a:defRPr sz="1200" b="1">
                <a:solidFill>
                  <a:srgbClr val="1C1E1C"/>
                </a:solidFill>
                <a:latin typeface="Georgia"/>
              </a:defRPr>
            </a:pPr>
            <a:r>
              <a:t>Environmental Protection &amp; Groundwater Safeguards</a:t>
            </a:r>
          </a:p>
          <a:p>
            <a:pPr>
              <a:defRPr sz="1000">
                <a:solidFill>
                  <a:srgbClr val="282C2A"/>
                </a:solidFill>
                <a:latin typeface="Calibri"/>
              </a:defRPr>
            </a:pPr>
            <a:r>
              <a:t>Prevents indiscriminate nitrogen broadcasting, directly mitigating nitrate leaching into rural groundwater aquifers, soil acidification, and agricultural runoff eutrophication.</a:t>
            </a:r>
          </a:p>
        </p:txBody>
      </p:sp>
      <p:sp>
        <p:nvSpPr>
          <p:cNvPr id="15" name="Rounded Rectangle 14"/>
          <p:cNvSpPr/>
          <p:nvPr/>
        </p:nvSpPr>
        <p:spPr>
          <a:xfrm>
            <a:off x="731520" y="4343400"/>
            <a:ext cx="1069848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4343400"/>
            <a:ext cx="109728" cy="896112"/>
          </a:xfrm>
          <a:prstGeom prst="roundRect">
            <a:avLst/>
          </a:prstGeom>
          <a:solidFill>
            <a:srgbClr val="2E5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434840"/>
            <a:ext cx="10241280" cy="731520"/>
          </a:xfrm>
          <a:prstGeom prst="rect">
            <a:avLst/>
          </a:prstGeom>
          <a:noFill/>
        </p:spPr>
        <p:txBody>
          <a:bodyPr wrap="square" lIns="0" tIns="0" rIns="0" bIns="0">
            <a:spAutoFit/>
          </a:bodyPr>
          <a:lstStyle/>
          <a:p>
            <a:pPr>
              <a:spcAft>
                <a:spcPts val="200"/>
              </a:spcAft>
              <a:defRPr sz="1200" b="1">
                <a:solidFill>
                  <a:srgbClr val="1C1E1C"/>
                </a:solidFill>
                <a:latin typeface="Georgia"/>
              </a:defRPr>
            </a:pPr>
            <a:r>
              <a:t>Carbon Sequestration &amp; Regeneration Monitoring</a:t>
            </a:r>
          </a:p>
          <a:p>
            <a:pPr>
              <a:defRPr sz="1000">
                <a:solidFill>
                  <a:srgbClr val="282C2A"/>
                </a:solidFill>
                <a:latin typeface="Calibri"/>
              </a:defRPr>
            </a:pPr>
            <a:r>
              <a:t>Equips agrarian NGOs, carbon credit verifiers, and agricultural departments to monitor field-scale Soil Organic Carbon (SOC) regeneration over multi-year regenerative farming initiatives.</a:t>
            </a:r>
          </a:p>
        </p:txBody>
      </p:sp>
      <p:sp>
        <p:nvSpPr>
          <p:cNvPr id="18" name="Rounded Rectangle 17"/>
          <p:cNvSpPr/>
          <p:nvPr/>
        </p:nvSpPr>
        <p:spPr>
          <a:xfrm>
            <a:off x="731520" y="5349240"/>
            <a:ext cx="10698480" cy="896112"/>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5349240"/>
            <a:ext cx="109728" cy="896112"/>
          </a:xfrm>
          <a:prstGeom prst="roundRect">
            <a:avLst/>
          </a:prstGeom>
          <a:solidFill>
            <a:srgbClr val="2E5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79"/>
            <a:ext cx="10241280" cy="731520"/>
          </a:xfrm>
          <a:prstGeom prst="rect">
            <a:avLst/>
          </a:prstGeom>
          <a:noFill/>
        </p:spPr>
        <p:txBody>
          <a:bodyPr wrap="square" lIns="0" tIns="0" rIns="0" bIns="0">
            <a:spAutoFit/>
          </a:bodyPr>
          <a:lstStyle/>
          <a:p>
            <a:pPr>
              <a:spcAft>
                <a:spcPts val="200"/>
              </a:spcAft>
              <a:defRPr sz="1200" b="1">
                <a:solidFill>
                  <a:srgbClr val="1C1E1C"/>
                </a:solidFill>
                <a:latin typeface="Georgia"/>
              </a:defRPr>
            </a:pPr>
            <a:r>
              <a:t>Micro-Finance &amp; Agricultural Crop Insurance</a:t>
            </a:r>
          </a:p>
          <a:p>
            <a:pPr>
              <a:defRPr sz="1000">
                <a:solidFill>
                  <a:srgbClr val="282C2A"/>
                </a:solidFill>
                <a:latin typeface="Calibri"/>
              </a:defRPr>
            </a:pPr>
            <a:r>
              <a:t>Supplies rural lending institutions and insurance underwriters with verified, objective land fertility benchmarks to assess farm productivity potential and risk prior to loan disbursement.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REQUIREMENTS &amp; SPECIFICATIONS</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Hardware &amp; Software Requirements</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521208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53895"/>
            <a:ext cx="4882896" cy="384048"/>
          </a:xfrm>
          <a:prstGeom prst="rect">
            <a:avLst/>
          </a:prstGeom>
          <a:noFill/>
        </p:spPr>
        <p:txBody>
          <a:bodyPr wrap="square" lIns="0" tIns="0" rIns="0" bIns="0">
            <a:spAutoFit/>
          </a:bodyPr>
          <a:lstStyle/>
          <a:p>
            <a:pPr>
              <a:defRPr sz="1300" b="1">
                <a:solidFill>
                  <a:srgbClr val="1C1E1C"/>
                </a:solidFill>
                <a:latin typeface="Georgia"/>
              </a:defRPr>
            </a:pPr>
            <a:r>
              <a:t>Hardware Specifications</a:t>
            </a:r>
          </a:p>
        </p:txBody>
      </p:sp>
      <p:sp>
        <p:nvSpPr>
          <p:cNvPr id="8" name="TextBox 7"/>
          <p:cNvSpPr txBox="1"/>
          <p:nvPr/>
        </p:nvSpPr>
        <p:spPr>
          <a:xfrm>
            <a:off x="960120" y="1920240"/>
            <a:ext cx="4754880" cy="4206240"/>
          </a:xfrm>
          <a:prstGeom prst="rect">
            <a:avLst/>
          </a:prstGeom>
          <a:noFill/>
        </p:spPr>
        <p:txBody>
          <a:bodyPr wrap="square" lIns="0" tIns="0" rIns="0" bIns="0">
            <a:spAutoFit/>
          </a:bodyPr>
          <a:lstStyle/>
          <a:p>
            <a:pPr>
              <a:spcAft>
                <a:spcPts val="1200"/>
              </a:spcAft>
            </a:pPr>
            <a:r>
              <a:rPr b="1" sz="1100">
                <a:solidFill>
                  <a:srgbClr val="1C1E1C"/>
                </a:solidFill>
                <a:latin typeface="Calibri"/>
              </a:rPr>
              <a:t>💻 Processor: </a:t>
            </a:r>
            <a:r>
              <a:rPr sz="1050">
                <a:solidFill>
                  <a:srgbClr val="282C2A"/>
                </a:solidFill>
                <a:latin typeface="Calibri"/>
              </a:rPr>
              <a:t>Multi-core Intel Core i5/i7 (11th Gen+) or AMD Ryzen 5/7 for parallel geospatial raster window clipping.</a:t>
            </a:r>
          </a:p>
          <a:p>
            <a:pPr>
              <a:spcAft>
                <a:spcPts val="1200"/>
              </a:spcAft>
            </a:pPr>
            <a:r>
              <a:rPr b="1" sz="1100">
                <a:solidFill>
                  <a:srgbClr val="1C1E1C"/>
                </a:solidFill>
                <a:latin typeface="Calibri"/>
              </a:rPr>
              <a:t>💻 Memory (RAM): </a:t>
            </a:r>
            <a:r>
              <a:rPr sz="1050">
                <a:solidFill>
                  <a:srgbClr val="282C2A"/>
                </a:solidFill>
                <a:latin typeface="Calibri"/>
              </a:rPr>
              <a:t>Minimum 16 GB DDR4/DDR5 RAM to handle multi-band satellite raster stacking in memory.</a:t>
            </a:r>
          </a:p>
          <a:p>
            <a:pPr>
              <a:spcAft>
                <a:spcPts val="1200"/>
              </a:spcAft>
            </a:pPr>
            <a:r>
              <a:rPr b="1" sz="1100">
                <a:solidFill>
                  <a:srgbClr val="1C1E1C"/>
                </a:solidFill>
                <a:latin typeface="Calibri"/>
              </a:rPr>
              <a:t>💻 GPU Acceleration: </a:t>
            </a:r>
            <a:r>
              <a:rPr sz="1050">
                <a:solidFill>
                  <a:srgbClr val="282C2A"/>
                </a:solidFill>
                <a:latin typeface="Calibri"/>
              </a:rPr>
              <a:t>NVIDIA GTX/RTX GPU (or Google Colab / Kaggle Cloud T4/V100 GPU) for accelerated model cross-validation.</a:t>
            </a:r>
          </a:p>
          <a:p>
            <a:pPr>
              <a:spcAft>
                <a:spcPts val="1200"/>
              </a:spcAft>
            </a:pPr>
            <a:r>
              <a:rPr b="1" sz="1100">
                <a:solidFill>
                  <a:srgbClr val="1C1E1C"/>
                </a:solidFill>
                <a:latin typeface="Calibri"/>
              </a:rPr>
              <a:t>💻 Storage: </a:t>
            </a:r>
            <a:r>
              <a:rPr sz="1050">
                <a:solidFill>
                  <a:srgbClr val="282C2A"/>
                </a:solidFill>
                <a:latin typeface="Calibri"/>
              </a:rPr>
              <a:t>50 GB High-Speed NVMe SSD for local dataset caching and preprocessed training tables.</a:t>
            </a:r>
          </a:p>
          <a:p>
            <a:pPr>
              <a:spcAft>
                <a:spcPts val="1200"/>
              </a:spcAft>
            </a:pPr>
            <a:r>
              <a:rPr b="1" sz="1100">
                <a:solidFill>
                  <a:srgbClr val="1C1E1C"/>
                </a:solidFill>
                <a:latin typeface="Calibri"/>
              </a:rPr>
              <a:t>💻 Network: </a:t>
            </a:r>
            <a:r>
              <a:rPr sz="1050">
                <a:solidFill>
                  <a:srgbClr val="282C2A"/>
                </a:solidFill>
                <a:latin typeface="Calibri"/>
              </a:rPr>
              <a:t>High-speed broadband connection (&gt;20 Mbps) for streaming Cloud-Optimized GeoTIFFs via STAC API.</a:t>
            </a:r>
          </a:p>
        </p:txBody>
      </p:sp>
      <p:sp>
        <p:nvSpPr>
          <p:cNvPr id="9" name="Rounded Rectangle 8"/>
          <p:cNvSpPr/>
          <p:nvPr/>
        </p:nvSpPr>
        <p:spPr>
          <a:xfrm>
            <a:off x="6217920" y="1325880"/>
            <a:ext cx="521208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453895"/>
            <a:ext cx="4882896" cy="384048"/>
          </a:xfrm>
          <a:prstGeom prst="rect">
            <a:avLst/>
          </a:prstGeom>
          <a:noFill/>
        </p:spPr>
        <p:txBody>
          <a:bodyPr wrap="square" lIns="0" tIns="0" rIns="0" bIns="0">
            <a:spAutoFit/>
          </a:bodyPr>
          <a:lstStyle/>
          <a:p>
            <a:pPr>
              <a:defRPr sz="1300" b="1">
                <a:solidFill>
                  <a:srgbClr val="1C1E1C"/>
                </a:solidFill>
                <a:latin typeface="Georgia"/>
              </a:defRPr>
            </a:pPr>
            <a:r>
              <a:t>Software &amp; Development Stack</a:t>
            </a:r>
          </a:p>
        </p:txBody>
      </p:sp>
      <p:sp>
        <p:nvSpPr>
          <p:cNvPr id="11" name="TextBox 10"/>
          <p:cNvSpPr txBox="1"/>
          <p:nvPr/>
        </p:nvSpPr>
        <p:spPr>
          <a:xfrm>
            <a:off x="6446520" y="1920240"/>
            <a:ext cx="4754880" cy="4206240"/>
          </a:xfrm>
          <a:prstGeom prst="rect">
            <a:avLst/>
          </a:prstGeom>
          <a:noFill/>
        </p:spPr>
        <p:txBody>
          <a:bodyPr wrap="square" lIns="0" tIns="0" rIns="0" bIns="0">
            <a:spAutoFit/>
          </a:bodyPr>
          <a:lstStyle/>
          <a:p>
            <a:pPr>
              <a:spcAft>
                <a:spcPts val="1200"/>
              </a:spcAft>
            </a:pPr>
            <a:r>
              <a:rPr b="1" sz="1100">
                <a:solidFill>
                  <a:srgbClr val="1C1E1C"/>
                </a:solidFill>
                <a:latin typeface="Calibri"/>
              </a:rPr>
              <a:t>⚙️ Programming Language: </a:t>
            </a:r>
            <a:r>
              <a:rPr sz="1050">
                <a:solidFill>
                  <a:srgbClr val="282C2A"/>
                </a:solidFill>
                <a:latin typeface="Calibri"/>
              </a:rPr>
              <a:t>Python 3.10 / 3.11 with virtual environment encapsulation.</a:t>
            </a:r>
          </a:p>
          <a:p>
            <a:pPr>
              <a:spcAft>
                <a:spcPts val="1200"/>
              </a:spcAft>
            </a:pPr>
            <a:r>
              <a:rPr b="1" sz="1100">
                <a:solidFill>
                  <a:srgbClr val="1C1E1C"/>
                </a:solidFill>
                <a:latin typeface="Calibri"/>
              </a:rPr>
              <a:t>⚙️ Cloud Earth APIs: </a:t>
            </a:r>
            <a:r>
              <a:rPr sz="1050">
                <a:solidFill>
                  <a:srgbClr val="282C2A"/>
                </a:solidFill>
                <a:latin typeface="Calibri"/>
              </a:rPr>
              <a:t>Microsoft Planetary Computer STAC API (`pystac-client`, `planetary-computer`).</a:t>
            </a:r>
          </a:p>
          <a:p>
            <a:pPr>
              <a:spcAft>
                <a:spcPts val="1200"/>
              </a:spcAft>
            </a:pPr>
            <a:r>
              <a:rPr b="1" sz="1100">
                <a:solidFill>
                  <a:srgbClr val="1C1E1C"/>
                </a:solidFill>
                <a:latin typeface="Calibri"/>
              </a:rPr>
              <a:t>⚙️ Geospatial Stack: </a:t>
            </a:r>
            <a:r>
              <a:rPr sz="1050">
                <a:solidFill>
                  <a:srgbClr val="282C2A"/>
                </a:solidFill>
                <a:latin typeface="Calibri"/>
              </a:rPr>
              <a:t>`rasterio`, `rioxarray`, `geopandas`, `shapely` for coordinate reprojection and COG windowing.</a:t>
            </a:r>
          </a:p>
          <a:p>
            <a:pPr>
              <a:spcAft>
                <a:spcPts val="1200"/>
              </a:spcAft>
            </a:pPr>
            <a:r>
              <a:rPr b="1" sz="1100">
                <a:solidFill>
                  <a:srgbClr val="1C1E1C"/>
                </a:solidFill>
                <a:latin typeface="Calibri"/>
              </a:rPr>
              <a:t>⚙️ Machine Learning Suite: </a:t>
            </a:r>
            <a:r>
              <a:rPr sz="1050">
                <a:solidFill>
                  <a:srgbClr val="282C2A"/>
                </a:solidFill>
                <a:latin typeface="Calibri"/>
              </a:rPr>
              <a:t>`scikit-learn`, `xgboost`, `lightgbm` for regression modeling and spatial cross-validation.</a:t>
            </a:r>
          </a:p>
          <a:p>
            <a:pPr>
              <a:spcAft>
                <a:spcPts val="1200"/>
              </a:spcAft>
            </a:pPr>
            <a:r>
              <a:rPr b="1" sz="1100">
                <a:solidFill>
                  <a:srgbClr val="1C1E1C"/>
                </a:solidFill>
                <a:latin typeface="Calibri"/>
              </a:rPr>
              <a:t>⚙️ Visualization &amp; Web GIS: </a:t>
            </a:r>
            <a:r>
              <a:rPr sz="1050">
                <a:solidFill>
                  <a:srgbClr val="282C2A"/>
                </a:solidFill>
                <a:latin typeface="Calibri"/>
              </a:rPr>
              <a:t>`matplotlib`, `seaborn`, `folium` / `leaflet` for interactive intra-field heatmap rendering.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CONCLUSION &amp; DELIVERABLES</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Conclusion &amp; Expected Outcomes</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521208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453895"/>
            <a:ext cx="4882896" cy="384048"/>
          </a:xfrm>
          <a:prstGeom prst="rect">
            <a:avLst/>
          </a:prstGeom>
          <a:noFill/>
        </p:spPr>
        <p:txBody>
          <a:bodyPr wrap="square" lIns="0" tIns="0" rIns="0" bIns="0">
            <a:spAutoFit/>
          </a:bodyPr>
          <a:lstStyle/>
          <a:p>
            <a:pPr>
              <a:defRPr sz="1300" b="1">
                <a:solidFill>
                  <a:srgbClr val="1C1E1C"/>
                </a:solidFill>
                <a:latin typeface="Georgia"/>
              </a:defRPr>
            </a:pPr>
            <a:r>
              <a:t>Key Takeaways from Phase 1</a:t>
            </a:r>
          </a:p>
        </p:txBody>
      </p:sp>
      <p:sp>
        <p:nvSpPr>
          <p:cNvPr id="8" name="TextBox 7"/>
          <p:cNvSpPr txBox="1"/>
          <p:nvPr/>
        </p:nvSpPr>
        <p:spPr>
          <a:xfrm>
            <a:off x="960120" y="1920240"/>
            <a:ext cx="4754880" cy="4206240"/>
          </a:xfrm>
          <a:prstGeom prst="rect">
            <a:avLst/>
          </a:prstGeom>
          <a:noFill/>
        </p:spPr>
        <p:txBody>
          <a:bodyPr wrap="square" lIns="0" tIns="0" rIns="0" bIns="0">
            <a:spAutoFit/>
          </a:bodyPr>
          <a:lstStyle/>
          <a:p>
            <a:pPr>
              <a:spcAft>
                <a:spcPts val="1200"/>
              </a:spcAft>
            </a:pPr>
            <a:r>
              <a:rPr b="1" sz="1100">
                <a:solidFill>
                  <a:srgbClr val="1C1E1C"/>
                </a:solidFill>
                <a:latin typeface="Calibri"/>
              </a:rPr>
              <a:t>✔ Scientific Feasibility Proven: </a:t>
            </a:r>
            <a:r>
              <a:rPr sz="1050">
                <a:solidFill>
                  <a:srgbClr val="282C2A"/>
                </a:solidFill>
                <a:latin typeface="Calibri"/>
              </a:rPr>
              <a:t>Verified the physical and spectral mechanisms linking Sentinel-2 VNIR/SWIR reflectance to soil organic carbon, clay minerals, and indirect NPK covariance.</a:t>
            </a:r>
          </a:p>
          <a:p>
            <a:pPr>
              <a:spcAft>
                <a:spcPts val="1200"/>
              </a:spcAft>
            </a:pPr>
            <a:r>
              <a:rPr b="1" sz="1100">
                <a:solidFill>
                  <a:srgbClr val="1C1E1C"/>
                </a:solidFill>
                <a:latin typeface="Calibri"/>
              </a:rPr>
              <a:t>✔ Zero-Waste Cloud Architecture: </a:t>
            </a:r>
            <a:r>
              <a:rPr sz="1050">
                <a:solidFill>
                  <a:srgbClr val="282C2A"/>
                </a:solidFill>
                <a:latin typeface="Calibri"/>
              </a:rPr>
              <a:t>Successfully implemented and verified Cloud-Optimized GeoTIFF streaming via STAC API, fetching farm-level data in 1.3 seconds without full-tile downloads.</a:t>
            </a:r>
          </a:p>
          <a:p>
            <a:pPr>
              <a:spcAft>
                <a:spcPts val="1200"/>
              </a:spcAft>
            </a:pPr>
            <a:r>
              <a:rPr b="1" sz="1100">
                <a:solidFill>
                  <a:srgbClr val="1C1E1C"/>
                </a:solidFill>
                <a:latin typeface="Calibri"/>
              </a:rPr>
              <a:t>✔ Defensible Validation Strategy: </a:t>
            </a:r>
            <a:r>
              <a:rPr sz="1050">
                <a:solidFill>
                  <a:srgbClr val="282C2A"/>
                </a:solidFill>
                <a:latin typeface="Calibri"/>
              </a:rPr>
              <a:t>Overcame spatial autocorrelation hazards by formulating Spatial Block Cross-Validation, ensuring models generalize to unseen farms.</a:t>
            </a:r>
          </a:p>
          <a:p>
            <a:pPr>
              <a:spcAft>
                <a:spcPts val="1200"/>
              </a:spcAft>
            </a:pPr>
            <a:r>
              <a:rPr b="1" sz="1100">
                <a:solidFill>
                  <a:srgbClr val="1C1E1C"/>
                </a:solidFill>
                <a:latin typeface="Calibri"/>
              </a:rPr>
              <a:t>✔ Team Specialization: </a:t>
            </a:r>
            <a:r>
              <a:rPr sz="1050">
                <a:solidFill>
                  <a:srgbClr val="282C2A"/>
                </a:solidFill>
                <a:latin typeface="Calibri"/>
              </a:rPr>
              <a:t>Distinct role allocation across Data Engineering, ML Modeling, Chemistry Targets, and GIS Mapping guarantees rapid Phase 2 execution.</a:t>
            </a:r>
          </a:p>
        </p:txBody>
      </p:sp>
      <p:sp>
        <p:nvSpPr>
          <p:cNvPr id="9" name="Rounded Rectangle 8"/>
          <p:cNvSpPr/>
          <p:nvPr/>
        </p:nvSpPr>
        <p:spPr>
          <a:xfrm>
            <a:off x="6217920" y="1325880"/>
            <a:ext cx="5212080" cy="5029200"/>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453895"/>
            <a:ext cx="4882896" cy="384048"/>
          </a:xfrm>
          <a:prstGeom prst="rect">
            <a:avLst/>
          </a:prstGeom>
          <a:noFill/>
        </p:spPr>
        <p:txBody>
          <a:bodyPr wrap="square" lIns="0" tIns="0" rIns="0" bIns="0">
            <a:spAutoFit/>
          </a:bodyPr>
          <a:lstStyle/>
          <a:p>
            <a:pPr>
              <a:defRPr sz="1300" b="1">
                <a:solidFill>
                  <a:srgbClr val="1C1E1C"/>
                </a:solidFill>
                <a:latin typeface="Georgia"/>
              </a:defRPr>
            </a:pPr>
            <a:r>
              <a:t>Expected Outcomes of Phase 2</a:t>
            </a:r>
          </a:p>
        </p:txBody>
      </p:sp>
      <p:sp>
        <p:nvSpPr>
          <p:cNvPr id="11" name="TextBox 10"/>
          <p:cNvSpPr txBox="1"/>
          <p:nvPr/>
        </p:nvSpPr>
        <p:spPr>
          <a:xfrm>
            <a:off x="6446520" y="1920240"/>
            <a:ext cx="4754880" cy="4206240"/>
          </a:xfrm>
          <a:prstGeom prst="rect">
            <a:avLst/>
          </a:prstGeom>
          <a:noFill/>
        </p:spPr>
        <p:txBody>
          <a:bodyPr wrap="square" lIns="0" tIns="0" rIns="0" bIns="0">
            <a:spAutoFit/>
          </a:bodyPr>
          <a:lstStyle/>
          <a:p>
            <a:pPr>
              <a:spcAft>
                <a:spcPts val="1200"/>
              </a:spcAft>
            </a:pPr>
            <a:r>
              <a:rPr b="1" sz="1100">
                <a:solidFill>
                  <a:srgbClr val="1C1E1C"/>
                </a:solidFill>
                <a:latin typeface="Calibri"/>
              </a:rPr>
              <a:t>🚀 Trained AI Regression Suite: </a:t>
            </a:r>
            <a:r>
              <a:rPr sz="1050">
                <a:solidFill>
                  <a:srgbClr val="282C2A"/>
                </a:solidFill>
                <a:latin typeface="Calibri"/>
              </a:rPr>
              <a:t>Validated machine learning regressors predicting Nitrogen, Available Phosphorus, Exchangeable Potassium, pH, and SOC.</a:t>
            </a:r>
          </a:p>
          <a:p>
            <a:pPr>
              <a:spcAft>
                <a:spcPts val="1200"/>
              </a:spcAft>
            </a:pPr>
            <a:r>
              <a:rPr b="1" sz="1100">
                <a:solidFill>
                  <a:srgbClr val="1C1E1C"/>
                </a:solidFill>
                <a:latin typeface="Calibri"/>
              </a:rPr>
              <a:t>🚀 Continuous 2D Nutrient Heatmaps: </a:t>
            </a:r>
            <a:r>
              <a:rPr sz="1050">
                <a:solidFill>
                  <a:srgbClr val="282C2A"/>
                </a:solidFill>
                <a:latin typeface="Calibri"/>
              </a:rPr>
              <a:t>High-resolution (10m) intra-field fertility maps showing exact management zones within farm boundaries.</a:t>
            </a:r>
          </a:p>
          <a:p>
            <a:pPr>
              <a:spcAft>
                <a:spcPts val="1200"/>
              </a:spcAft>
            </a:pPr>
            <a:r>
              <a:rPr b="1" sz="1100">
                <a:solidFill>
                  <a:srgbClr val="1C1E1C"/>
                </a:solidFill>
                <a:latin typeface="Calibri"/>
              </a:rPr>
              <a:t>🚀 Actionable Advisory Engine: </a:t>
            </a:r>
            <a:r>
              <a:rPr sz="1050">
                <a:solidFill>
                  <a:srgbClr val="282C2A"/>
                </a:solidFill>
                <a:latin typeface="Calibri"/>
              </a:rPr>
              <a:t>Direct translation of chemical values into customized fertilizer dosage plans (Urea, DAP, MOP).</a:t>
            </a:r>
          </a:p>
          <a:p>
            <a:pPr>
              <a:spcAft>
                <a:spcPts val="1200"/>
              </a:spcAft>
            </a:pPr>
            <a:r>
              <a:rPr b="1" sz="1100">
                <a:solidFill>
                  <a:srgbClr val="1C1E1C"/>
                </a:solidFill>
                <a:latin typeface="Calibri"/>
              </a:rPr>
              <a:t>🚀 Empowerment of Smallholders: </a:t>
            </a:r>
            <a:r>
              <a:rPr sz="1050">
                <a:solidFill>
                  <a:srgbClr val="282C2A"/>
                </a:solidFill>
                <a:latin typeface="Calibri"/>
              </a:rPr>
              <a:t>Democratizing soil health assessment by eliminating laboratory turnaround delays and testing expenses.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858000" cy="274320"/>
          </a:xfrm>
          <a:prstGeom prst="rect">
            <a:avLst/>
          </a:prstGeom>
          <a:noFill/>
        </p:spPr>
        <p:txBody>
          <a:bodyPr wrap="square" lIns="0" tIns="0" rIns="0" bIns="0">
            <a:spAutoFit/>
          </a:bodyPr>
          <a:lstStyle/>
          <a:p>
            <a:pPr>
              <a:defRPr sz="1000" b="1">
                <a:solidFill>
                  <a:srgbClr val="C47E30"/>
                </a:solidFill>
                <a:latin typeface="Calibri"/>
              </a:defRPr>
            </a:pPr>
            <a:r>
              <a:t>REFERENCES &amp; CITATIONS</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1C1E1C"/>
                </a:solidFill>
                <a:latin typeface="Georgia"/>
              </a:defRPr>
            </a:pPr>
            <a:r>
              <a:t>References (Journals &amp; Conferences with Direct Access)</a:t>
            </a:r>
          </a:p>
        </p:txBody>
      </p:sp>
      <p:sp>
        <p:nvSpPr>
          <p:cNvPr id="5" name="TextBox 4"/>
          <p:cNvSpPr txBox="1"/>
          <p:nvPr/>
        </p:nvSpPr>
        <p:spPr>
          <a:xfrm>
            <a:off x="7772400" y="320040"/>
            <a:ext cx="3657600" cy="274320"/>
          </a:xfrm>
          <a:prstGeom prst="rect">
            <a:avLst/>
          </a:prstGeom>
          <a:noFill/>
        </p:spPr>
        <p:txBody>
          <a:bodyPr wrap="square" lIns="0" tIns="0" rIns="0" bIns="0">
            <a:spAutoFit/>
          </a:bodyPr>
          <a:lstStyle/>
          <a:p>
            <a:pPr algn="r">
              <a:defRPr sz="950" b="1">
                <a:solidFill>
                  <a:srgbClr val="6E7370"/>
                </a:solidFill>
                <a:latin typeface="Calibri"/>
              </a:defRPr>
            </a:pPr>
            <a:r>
              <a:t>CAPSTONE 2025–26 | DR. PRAMOD T. C.</a:t>
            </a:r>
          </a:p>
        </p:txBody>
      </p:sp>
      <p:sp>
        <p:nvSpPr>
          <p:cNvPr id="6" name="Rounded Rectangle 5"/>
          <p:cNvSpPr/>
          <p:nvPr/>
        </p:nvSpPr>
        <p:spPr>
          <a:xfrm>
            <a:off x="731520" y="1325880"/>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99032"/>
            <a:ext cx="3931920" cy="438912"/>
          </a:xfrm>
          <a:prstGeom prst="rect">
            <a:avLst/>
          </a:prstGeom>
          <a:noFill/>
        </p:spPr>
        <p:txBody>
          <a:bodyPr wrap="square" lIns="0" tIns="0" rIns="0" bIns="0">
            <a:spAutoFit/>
          </a:bodyPr>
          <a:lstStyle/>
          <a:p>
            <a:pPr>
              <a:defRPr sz="900" b="1">
                <a:solidFill>
                  <a:srgbClr val="1C1E1C"/>
                </a:solidFill>
                <a:latin typeface="Calibri"/>
              </a:defRPr>
            </a:pPr>
            <a:r>
              <a:t>[1] Castaldi, F. et al. (2019). Sentinel-2 for soil organic carbon &amp; texture.</a:t>
            </a:r>
          </a:p>
          <a:p>
            <a:pPr>
              <a:defRPr sz="850">
                <a:solidFill>
                  <a:srgbClr val="6E7370"/>
                </a:solidFill>
                <a:latin typeface="Calibri"/>
              </a:defRPr>
            </a:pPr>
            <a:r>
              <a:t>Published in: Remote Sens. Environ.</a:t>
            </a:r>
          </a:p>
        </p:txBody>
      </p:sp>
      <p:sp>
        <p:nvSpPr>
          <p:cNvPr id="8" name="Rounded Rectangle 7"/>
          <p:cNvSpPr/>
          <p:nvPr/>
        </p:nvSpPr>
        <p:spPr>
          <a:xfrm>
            <a:off x="4892040" y="1435607"/>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2"/>
              </a:rPr>
              <a:t>🔗 Access</a:t>
            </a:r>
          </a:p>
        </p:txBody>
      </p:sp>
      <p:sp>
        <p:nvSpPr>
          <p:cNvPr id="9" name="Rounded Rectangle 8"/>
          <p:cNvSpPr/>
          <p:nvPr/>
        </p:nvSpPr>
        <p:spPr>
          <a:xfrm>
            <a:off x="731520" y="1947672"/>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20824"/>
            <a:ext cx="3931920" cy="438912"/>
          </a:xfrm>
          <a:prstGeom prst="rect">
            <a:avLst/>
          </a:prstGeom>
          <a:noFill/>
        </p:spPr>
        <p:txBody>
          <a:bodyPr wrap="square" lIns="0" tIns="0" rIns="0" bIns="0">
            <a:spAutoFit/>
          </a:bodyPr>
          <a:lstStyle/>
          <a:p>
            <a:pPr>
              <a:defRPr sz="900" b="1">
                <a:solidFill>
                  <a:srgbClr val="1C1E1C"/>
                </a:solidFill>
                <a:latin typeface="Calibri"/>
              </a:defRPr>
            </a:pPr>
            <a:r>
              <a:t>[2] Gholizadeh, A. et al. (2021). Multi-Temporal Series to Estimate Topsoil.</a:t>
            </a:r>
          </a:p>
          <a:p>
            <a:pPr>
              <a:defRPr sz="850">
                <a:solidFill>
                  <a:srgbClr val="6E7370"/>
                </a:solidFill>
                <a:latin typeface="Calibri"/>
              </a:defRPr>
            </a:pPr>
            <a:r>
              <a:t>Published in: MDPI Remote Sensing</a:t>
            </a:r>
          </a:p>
        </p:txBody>
      </p:sp>
      <p:sp>
        <p:nvSpPr>
          <p:cNvPr id="11" name="Rounded Rectangle 10"/>
          <p:cNvSpPr/>
          <p:nvPr/>
        </p:nvSpPr>
        <p:spPr>
          <a:xfrm>
            <a:off x="4892040" y="2057400"/>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3"/>
              </a:rPr>
              <a:t>🔗 Access</a:t>
            </a:r>
          </a:p>
        </p:txBody>
      </p:sp>
      <p:sp>
        <p:nvSpPr>
          <p:cNvPr id="12" name="Rounded Rectangle 11"/>
          <p:cNvSpPr/>
          <p:nvPr/>
        </p:nvSpPr>
        <p:spPr>
          <a:xfrm>
            <a:off x="731520" y="2569464"/>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42616"/>
            <a:ext cx="3931920" cy="438912"/>
          </a:xfrm>
          <a:prstGeom prst="rect">
            <a:avLst/>
          </a:prstGeom>
          <a:noFill/>
        </p:spPr>
        <p:txBody>
          <a:bodyPr wrap="square" lIns="0" tIns="0" rIns="0" bIns="0">
            <a:spAutoFit/>
          </a:bodyPr>
          <a:lstStyle/>
          <a:p>
            <a:pPr>
              <a:defRPr sz="900" b="1">
                <a:solidFill>
                  <a:srgbClr val="1C1E1C"/>
                </a:solidFill>
                <a:latin typeface="Calibri"/>
              </a:defRPr>
            </a:pPr>
            <a:r>
              <a:t>[3] Piccoli, I. et al. (2023). Soil characteristics from Sentinel-3 &amp; DEM.</a:t>
            </a:r>
          </a:p>
          <a:p>
            <a:pPr>
              <a:defRPr sz="850">
                <a:solidFill>
                  <a:srgbClr val="6E7370"/>
                </a:solidFill>
                <a:latin typeface="Calibri"/>
              </a:defRPr>
            </a:pPr>
            <a:r>
              <a:t>Published in: MDPI Sensors</a:t>
            </a:r>
          </a:p>
        </p:txBody>
      </p:sp>
      <p:sp>
        <p:nvSpPr>
          <p:cNvPr id="14" name="Rounded Rectangle 13"/>
          <p:cNvSpPr/>
          <p:nvPr/>
        </p:nvSpPr>
        <p:spPr>
          <a:xfrm>
            <a:off x="4892040" y="2679192"/>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4"/>
              </a:rPr>
              <a:t>🔗 Access</a:t>
            </a:r>
          </a:p>
        </p:txBody>
      </p:sp>
      <p:sp>
        <p:nvSpPr>
          <p:cNvPr id="15" name="Rounded Rectangle 14"/>
          <p:cNvSpPr/>
          <p:nvPr/>
        </p:nvSpPr>
        <p:spPr>
          <a:xfrm>
            <a:off x="731520" y="3191256"/>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264408"/>
            <a:ext cx="3931920" cy="438912"/>
          </a:xfrm>
          <a:prstGeom prst="rect">
            <a:avLst/>
          </a:prstGeom>
          <a:noFill/>
        </p:spPr>
        <p:txBody>
          <a:bodyPr wrap="square" lIns="0" tIns="0" rIns="0" bIns="0">
            <a:spAutoFit/>
          </a:bodyPr>
          <a:lstStyle/>
          <a:p>
            <a:pPr>
              <a:defRPr sz="900" b="1">
                <a:solidFill>
                  <a:srgbClr val="1C1E1C"/>
                </a:solidFill>
                <a:latin typeface="Calibri"/>
              </a:defRPr>
            </a:pPr>
            <a:r>
              <a:t>[4] Demattê, J. A. M. et al. (2018). Soil spectral library &amp; classification.</a:t>
            </a:r>
          </a:p>
          <a:p>
            <a:pPr>
              <a:defRPr sz="850">
                <a:solidFill>
                  <a:srgbClr val="6E7370"/>
                </a:solidFill>
                <a:latin typeface="Calibri"/>
              </a:defRPr>
            </a:pPr>
            <a:r>
              <a:t>Published in: Revista Ciência Agron.</a:t>
            </a:r>
          </a:p>
        </p:txBody>
      </p:sp>
      <p:sp>
        <p:nvSpPr>
          <p:cNvPr id="17" name="Rounded Rectangle 16"/>
          <p:cNvSpPr/>
          <p:nvPr/>
        </p:nvSpPr>
        <p:spPr>
          <a:xfrm>
            <a:off x="4892040" y="3300984"/>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5"/>
              </a:rPr>
              <a:t>🔗 Access</a:t>
            </a:r>
          </a:p>
        </p:txBody>
      </p:sp>
      <p:sp>
        <p:nvSpPr>
          <p:cNvPr id="18" name="Rounded Rectangle 17"/>
          <p:cNvSpPr/>
          <p:nvPr/>
        </p:nvSpPr>
        <p:spPr>
          <a:xfrm>
            <a:off x="731520" y="3813048"/>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886200"/>
            <a:ext cx="3931920" cy="438912"/>
          </a:xfrm>
          <a:prstGeom prst="rect">
            <a:avLst/>
          </a:prstGeom>
          <a:noFill/>
        </p:spPr>
        <p:txBody>
          <a:bodyPr wrap="square" lIns="0" tIns="0" rIns="0" bIns="0">
            <a:spAutoFit/>
          </a:bodyPr>
          <a:lstStyle/>
          <a:p>
            <a:pPr>
              <a:defRPr sz="900" b="1">
                <a:solidFill>
                  <a:srgbClr val="1C1E1C"/>
                </a:solidFill>
                <a:latin typeface="Calibri"/>
              </a:defRPr>
            </a:pPr>
            <a:r>
              <a:t>[5] Kammerlander, C. et al. (2025). ML models for soil parameter prediction.</a:t>
            </a:r>
          </a:p>
          <a:p>
            <a:pPr>
              <a:defRPr sz="850">
                <a:solidFill>
                  <a:srgbClr val="6E7370"/>
                </a:solidFill>
                <a:latin typeface="Calibri"/>
              </a:defRPr>
            </a:pPr>
            <a:r>
              <a:t>Published in: arXiv:2503.22276</a:t>
            </a:r>
          </a:p>
        </p:txBody>
      </p:sp>
      <p:sp>
        <p:nvSpPr>
          <p:cNvPr id="20" name="Rounded Rectangle 19"/>
          <p:cNvSpPr/>
          <p:nvPr/>
        </p:nvSpPr>
        <p:spPr>
          <a:xfrm>
            <a:off x="4892040" y="3922776"/>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6"/>
              </a:rPr>
              <a:t>🔗 Access</a:t>
            </a:r>
          </a:p>
        </p:txBody>
      </p:sp>
      <p:sp>
        <p:nvSpPr>
          <p:cNvPr id="21" name="Rounded Rectangle 20"/>
          <p:cNvSpPr/>
          <p:nvPr/>
        </p:nvSpPr>
        <p:spPr>
          <a:xfrm>
            <a:off x="731520" y="4434840"/>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507992"/>
            <a:ext cx="3931920" cy="438912"/>
          </a:xfrm>
          <a:prstGeom prst="rect">
            <a:avLst/>
          </a:prstGeom>
          <a:noFill/>
        </p:spPr>
        <p:txBody>
          <a:bodyPr wrap="square" lIns="0" tIns="0" rIns="0" bIns="0">
            <a:spAutoFit/>
          </a:bodyPr>
          <a:lstStyle/>
          <a:p>
            <a:pPr>
              <a:defRPr sz="900" b="1">
                <a:solidFill>
                  <a:srgbClr val="1C1E1C"/>
                </a:solidFill>
                <a:latin typeface="Calibri"/>
              </a:defRPr>
            </a:pPr>
            <a:r>
              <a:t>[6] Vohland, M. et al. (2018). Mapping soil properties with Sentinel-2.</a:t>
            </a:r>
          </a:p>
          <a:p>
            <a:pPr>
              <a:defRPr sz="850">
                <a:solidFill>
                  <a:srgbClr val="6E7370"/>
                </a:solidFill>
                <a:latin typeface="Calibri"/>
              </a:defRPr>
            </a:pPr>
            <a:r>
              <a:t>Published in: MDPI Remote Sensing</a:t>
            </a:r>
          </a:p>
        </p:txBody>
      </p:sp>
      <p:sp>
        <p:nvSpPr>
          <p:cNvPr id="23" name="Rounded Rectangle 22"/>
          <p:cNvSpPr/>
          <p:nvPr/>
        </p:nvSpPr>
        <p:spPr>
          <a:xfrm>
            <a:off x="4892040" y="4544568"/>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7"/>
              </a:rPr>
              <a:t>🔗 Access</a:t>
            </a:r>
          </a:p>
        </p:txBody>
      </p:sp>
      <p:sp>
        <p:nvSpPr>
          <p:cNvPr id="24" name="Rounded Rectangle 23"/>
          <p:cNvSpPr/>
          <p:nvPr/>
        </p:nvSpPr>
        <p:spPr>
          <a:xfrm>
            <a:off x="731520" y="5056632"/>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129784"/>
            <a:ext cx="3931920" cy="438912"/>
          </a:xfrm>
          <a:prstGeom prst="rect">
            <a:avLst/>
          </a:prstGeom>
          <a:noFill/>
        </p:spPr>
        <p:txBody>
          <a:bodyPr wrap="square" lIns="0" tIns="0" rIns="0" bIns="0">
            <a:spAutoFit/>
          </a:bodyPr>
          <a:lstStyle/>
          <a:p>
            <a:pPr>
              <a:defRPr sz="900" b="1">
                <a:solidFill>
                  <a:srgbClr val="1C1E1C"/>
                </a:solidFill>
                <a:latin typeface="Calibri"/>
              </a:defRPr>
            </a:pPr>
            <a:r>
              <a:t>[7] Frontiers in Remote Sensing (2024). Prediction of soil texture review.</a:t>
            </a:r>
          </a:p>
          <a:p>
            <a:pPr>
              <a:defRPr sz="850">
                <a:solidFill>
                  <a:srgbClr val="6E7370"/>
                </a:solidFill>
                <a:latin typeface="Calibri"/>
              </a:defRPr>
            </a:pPr>
            <a:r>
              <a:t>Published in: Frontiers in RS</a:t>
            </a:r>
          </a:p>
        </p:txBody>
      </p:sp>
      <p:sp>
        <p:nvSpPr>
          <p:cNvPr id="26" name="Rounded Rectangle 25"/>
          <p:cNvSpPr/>
          <p:nvPr/>
        </p:nvSpPr>
        <p:spPr>
          <a:xfrm>
            <a:off x="4892040" y="5166360"/>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8"/>
              </a:rPr>
              <a:t>🔗 Access</a:t>
            </a:r>
          </a:p>
        </p:txBody>
      </p:sp>
      <p:sp>
        <p:nvSpPr>
          <p:cNvPr id="27" name="Rounded Rectangle 26"/>
          <p:cNvSpPr/>
          <p:nvPr/>
        </p:nvSpPr>
        <p:spPr>
          <a:xfrm>
            <a:off x="731520" y="5678424"/>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5751576"/>
            <a:ext cx="3931920" cy="438912"/>
          </a:xfrm>
          <a:prstGeom prst="rect">
            <a:avLst/>
          </a:prstGeom>
          <a:noFill/>
        </p:spPr>
        <p:txBody>
          <a:bodyPr wrap="square" lIns="0" tIns="0" rIns="0" bIns="0">
            <a:spAutoFit/>
          </a:bodyPr>
          <a:lstStyle/>
          <a:p>
            <a:pPr>
              <a:defRPr sz="900" b="1">
                <a:solidFill>
                  <a:srgbClr val="1C1E1C"/>
                </a:solidFill>
                <a:latin typeface="Calibri"/>
              </a:defRPr>
            </a:pPr>
            <a:r>
              <a:t>[8] Dotto, A. C. et al. (2018). Predicting soil properties using ML &amp; spectra.</a:t>
            </a:r>
          </a:p>
          <a:p>
            <a:pPr>
              <a:defRPr sz="850">
                <a:solidFill>
                  <a:srgbClr val="6E7370"/>
                </a:solidFill>
                <a:latin typeface="Calibri"/>
              </a:defRPr>
            </a:pPr>
            <a:r>
              <a:t>Published in: Geoderma</a:t>
            </a:r>
          </a:p>
        </p:txBody>
      </p:sp>
      <p:sp>
        <p:nvSpPr>
          <p:cNvPr id="29" name="Rounded Rectangle 28"/>
          <p:cNvSpPr/>
          <p:nvPr/>
        </p:nvSpPr>
        <p:spPr>
          <a:xfrm>
            <a:off x="4892040" y="5788152"/>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9"/>
              </a:rPr>
              <a:t>🔗 Access</a:t>
            </a:r>
          </a:p>
        </p:txBody>
      </p:sp>
      <p:sp>
        <p:nvSpPr>
          <p:cNvPr id="30" name="Rounded Rectangle 29"/>
          <p:cNvSpPr/>
          <p:nvPr/>
        </p:nvSpPr>
        <p:spPr>
          <a:xfrm>
            <a:off x="6217920" y="1325880"/>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55080" y="1399032"/>
            <a:ext cx="3931920" cy="438912"/>
          </a:xfrm>
          <a:prstGeom prst="rect">
            <a:avLst/>
          </a:prstGeom>
          <a:noFill/>
        </p:spPr>
        <p:txBody>
          <a:bodyPr wrap="square" lIns="0" tIns="0" rIns="0" bIns="0">
            <a:spAutoFit/>
          </a:bodyPr>
          <a:lstStyle/>
          <a:p>
            <a:pPr>
              <a:defRPr sz="900" b="1">
                <a:solidFill>
                  <a:srgbClr val="1C1E1C"/>
                </a:solidFill>
                <a:latin typeface="Calibri"/>
              </a:defRPr>
            </a:pPr>
            <a:r>
              <a:t>[9] Charishma, K. et al. (2024). Top soil properties by Sentinel-2 imaging.</a:t>
            </a:r>
          </a:p>
          <a:p>
            <a:pPr>
              <a:defRPr sz="850">
                <a:solidFill>
                  <a:srgbClr val="6E7370"/>
                </a:solidFill>
                <a:latin typeface="Calibri"/>
              </a:defRPr>
            </a:pPr>
            <a:r>
              <a:t>Published in: Taylor &amp; Francis</a:t>
            </a:r>
          </a:p>
        </p:txBody>
      </p:sp>
      <p:sp>
        <p:nvSpPr>
          <p:cNvPr id="32" name="Rounded Rectangle 31"/>
          <p:cNvSpPr/>
          <p:nvPr/>
        </p:nvSpPr>
        <p:spPr>
          <a:xfrm>
            <a:off x="10378440" y="1435607"/>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10"/>
              </a:rPr>
              <a:t>🔗 Access</a:t>
            </a:r>
          </a:p>
        </p:txBody>
      </p:sp>
      <p:sp>
        <p:nvSpPr>
          <p:cNvPr id="33" name="Rounded Rectangle 32"/>
          <p:cNvSpPr/>
          <p:nvPr/>
        </p:nvSpPr>
        <p:spPr>
          <a:xfrm>
            <a:off x="6217920" y="1947672"/>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2020824"/>
            <a:ext cx="3931920" cy="438912"/>
          </a:xfrm>
          <a:prstGeom prst="rect">
            <a:avLst/>
          </a:prstGeom>
          <a:noFill/>
        </p:spPr>
        <p:txBody>
          <a:bodyPr wrap="square" lIns="0" tIns="0" rIns="0" bIns="0">
            <a:spAutoFit/>
          </a:bodyPr>
          <a:lstStyle/>
          <a:p>
            <a:pPr>
              <a:defRPr sz="900" b="1">
                <a:solidFill>
                  <a:srgbClr val="1C1E1C"/>
                </a:solidFill>
                <a:latin typeface="Calibri"/>
              </a:defRPr>
            </a:pPr>
            <a:r>
              <a:t>[10] Ng, W. et al. (2019). Utility of Sentinel-2 spectral data for SOC.</a:t>
            </a:r>
          </a:p>
          <a:p>
            <a:pPr>
              <a:defRPr sz="850">
                <a:solidFill>
                  <a:srgbClr val="6E7370"/>
                </a:solidFill>
                <a:latin typeface="Calibri"/>
              </a:defRPr>
            </a:pPr>
            <a:r>
              <a:t>Published in: Geoderma</a:t>
            </a:r>
          </a:p>
        </p:txBody>
      </p:sp>
      <p:sp>
        <p:nvSpPr>
          <p:cNvPr id="35" name="Rounded Rectangle 34"/>
          <p:cNvSpPr/>
          <p:nvPr/>
        </p:nvSpPr>
        <p:spPr>
          <a:xfrm>
            <a:off x="10378440" y="2057400"/>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11"/>
              </a:rPr>
              <a:t>🔗 Access</a:t>
            </a:r>
          </a:p>
        </p:txBody>
      </p:sp>
      <p:sp>
        <p:nvSpPr>
          <p:cNvPr id="36" name="Rounded Rectangle 35"/>
          <p:cNvSpPr/>
          <p:nvPr/>
        </p:nvSpPr>
        <p:spPr>
          <a:xfrm>
            <a:off x="6217920" y="2569464"/>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642616"/>
            <a:ext cx="3931920" cy="438912"/>
          </a:xfrm>
          <a:prstGeom prst="rect">
            <a:avLst/>
          </a:prstGeom>
          <a:noFill/>
        </p:spPr>
        <p:txBody>
          <a:bodyPr wrap="square" lIns="0" tIns="0" rIns="0" bIns="0">
            <a:spAutoFit/>
          </a:bodyPr>
          <a:lstStyle/>
          <a:p>
            <a:pPr>
              <a:defRPr sz="900" b="1">
                <a:solidFill>
                  <a:srgbClr val="1C1E1C"/>
                </a:solidFill>
                <a:latin typeface="Calibri"/>
              </a:defRPr>
            </a:pPr>
            <a:r>
              <a:t>[11] Bhargavi, P. &amp; Anitha, S. (2026). Soil nutrient prediction using data mining.</a:t>
            </a:r>
          </a:p>
          <a:p>
            <a:pPr>
              <a:defRPr sz="850">
                <a:solidFill>
                  <a:srgbClr val="6E7370"/>
                </a:solidFill>
                <a:latin typeface="Calibri"/>
              </a:defRPr>
            </a:pPr>
            <a:r>
              <a:t>Published in: IJSET</a:t>
            </a:r>
          </a:p>
        </p:txBody>
      </p:sp>
      <p:sp>
        <p:nvSpPr>
          <p:cNvPr id="38" name="Rounded Rectangle 37"/>
          <p:cNvSpPr/>
          <p:nvPr/>
        </p:nvSpPr>
        <p:spPr>
          <a:xfrm>
            <a:off x="10378440" y="2679192"/>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12"/>
              </a:rPr>
              <a:t>🔗 Access</a:t>
            </a:r>
          </a:p>
        </p:txBody>
      </p:sp>
      <p:sp>
        <p:nvSpPr>
          <p:cNvPr id="39" name="Rounded Rectangle 38"/>
          <p:cNvSpPr/>
          <p:nvPr/>
        </p:nvSpPr>
        <p:spPr>
          <a:xfrm>
            <a:off x="6217920" y="3191256"/>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3264408"/>
            <a:ext cx="3931920" cy="438912"/>
          </a:xfrm>
          <a:prstGeom prst="rect">
            <a:avLst/>
          </a:prstGeom>
          <a:noFill/>
        </p:spPr>
        <p:txBody>
          <a:bodyPr wrap="square" lIns="0" tIns="0" rIns="0" bIns="0">
            <a:spAutoFit/>
          </a:bodyPr>
          <a:lstStyle/>
          <a:p>
            <a:pPr>
              <a:defRPr sz="900" b="1">
                <a:solidFill>
                  <a:srgbClr val="1C1E1C"/>
                </a:solidFill>
                <a:latin typeface="Calibri"/>
              </a:defRPr>
            </a:pPr>
            <a:r>
              <a:t>[12] CIGR Journal (2025). Sensor framework for soil nutrients using DL.</a:t>
            </a:r>
          </a:p>
          <a:p>
            <a:pPr>
              <a:defRPr sz="850">
                <a:solidFill>
                  <a:srgbClr val="6E7370"/>
                </a:solidFill>
                <a:latin typeface="Calibri"/>
              </a:defRPr>
            </a:pPr>
            <a:r>
              <a:t>Published in: CIGR Journal</a:t>
            </a:r>
          </a:p>
        </p:txBody>
      </p:sp>
      <p:sp>
        <p:nvSpPr>
          <p:cNvPr id="41" name="Rounded Rectangle 40"/>
          <p:cNvSpPr/>
          <p:nvPr/>
        </p:nvSpPr>
        <p:spPr>
          <a:xfrm>
            <a:off x="10378440" y="3300984"/>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13"/>
              </a:rPr>
              <a:t>🔗 Access</a:t>
            </a:r>
          </a:p>
        </p:txBody>
      </p:sp>
      <p:sp>
        <p:nvSpPr>
          <p:cNvPr id="42" name="Rounded Rectangle 41"/>
          <p:cNvSpPr/>
          <p:nvPr/>
        </p:nvSpPr>
        <p:spPr>
          <a:xfrm>
            <a:off x="6217920" y="3813048"/>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3886200"/>
            <a:ext cx="3931920" cy="438912"/>
          </a:xfrm>
          <a:prstGeom prst="rect">
            <a:avLst/>
          </a:prstGeom>
          <a:noFill/>
        </p:spPr>
        <p:txBody>
          <a:bodyPr wrap="square" lIns="0" tIns="0" rIns="0" bIns="0">
            <a:spAutoFit/>
          </a:bodyPr>
          <a:lstStyle/>
          <a:p>
            <a:pPr>
              <a:defRPr sz="900" b="1">
                <a:solidFill>
                  <a:srgbClr val="1C1E1C"/>
                </a:solidFill>
                <a:latin typeface="Calibri"/>
              </a:defRPr>
            </a:pPr>
            <a:r>
              <a:t>[13] Taghizadeh-Mehrjardi, R. et al. (2020). Digital mapping of SOC using RS.</a:t>
            </a:r>
          </a:p>
          <a:p>
            <a:pPr>
              <a:defRPr sz="850">
                <a:solidFill>
                  <a:srgbClr val="6E7370"/>
                </a:solidFill>
                <a:latin typeface="Calibri"/>
              </a:defRPr>
            </a:pPr>
            <a:r>
              <a:t>Published in: Geoderma</a:t>
            </a:r>
          </a:p>
        </p:txBody>
      </p:sp>
      <p:sp>
        <p:nvSpPr>
          <p:cNvPr id="44" name="Rounded Rectangle 43"/>
          <p:cNvSpPr/>
          <p:nvPr/>
        </p:nvSpPr>
        <p:spPr>
          <a:xfrm>
            <a:off x="10378440" y="3922776"/>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14"/>
              </a:rPr>
              <a:t>🔗 Access</a:t>
            </a:r>
          </a:p>
        </p:txBody>
      </p:sp>
      <p:sp>
        <p:nvSpPr>
          <p:cNvPr id="45" name="Rounded Rectangle 44"/>
          <p:cNvSpPr/>
          <p:nvPr/>
        </p:nvSpPr>
        <p:spPr>
          <a:xfrm>
            <a:off x="6217920" y="4434840"/>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4507992"/>
            <a:ext cx="3931920" cy="438912"/>
          </a:xfrm>
          <a:prstGeom prst="rect">
            <a:avLst/>
          </a:prstGeom>
          <a:noFill/>
        </p:spPr>
        <p:txBody>
          <a:bodyPr wrap="square" lIns="0" tIns="0" rIns="0" bIns="0">
            <a:spAutoFit/>
          </a:bodyPr>
          <a:lstStyle/>
          <a:p>
            <a:pPr>
              <a:defRPr sz="900" b="1">
                <a:solidFill>
                  <a:srgbClr val="1C1E1C"/>
                </a:solidFill>
                <a:latin typeface="Calibri"/>
              </a:defRPr>
            </a:pPr>
            <a:r>
              <a:t>[14] IEEE Access (2021). Estimating SOM Content Using Sentinel-2.</a:t>
            </a:r>
          </a:p>
          <a:p>
            <a:pPr>
              <a:defRPr sz="850">
                <a:solidFill>
                  <a:srgbClr val="6E7370"/>
                </a:solidFill>
                <a:latin typeface="Calibri"/>
              </a:defRPr>
            </a:pPr>
            <a:r>
              <a:t>Published in: IEEE Access</a:t>
            </a:r>
          </a:p>
        </p:txBody>
      </p:sp>
      <p:sp>
        <p:nvSpPr>
          <p:cNvPr id="47" name="Rounded Rectangle 46"/>
          <p:cNvSpPr/>
          <p:nvPr/>
        </p:nvSpPr>
        <p:spPr>
          <a:xfrm>
            <a:off x="10378440" y="4544568"/>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15"/>
              </a:rPr>
              <a:t>🔗 Access</a:t>
            </a:r>
          </a:p>
        </p:txBody>
      </p:sp>
      <p:sp>
        <p:nvSpPr>
          <p:cNvPr id="48" name="Rounded Rectangle 47"/>
          <p:cNvSpPr/>
          <p:nvPr/>
        </p:nvSpPr>
        <p:spPr>
          <a:xfrm>
            <a:off x="6217920" y="5056632"/>
            <a:ext cx="5212080" cy="566928"/>
          </a:xfrm>
          <a:prstGeom prst="roundRect">
            <a:avLst/>
          </a:prstGeom>
          <a:solidFill>
            <a:srgbClr val="FFFFFF"/>
          </a:solidFill>
          <a:ln w="15240">
            <a:solidFill>
              <a:srgbClr val="E4E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129784"/>
            <a:ext cx="3931920" cy="438912"/>
          </a:xfrm>
          <a:prstGeom prst="rect">
            <a:avLst/>
          </a:prstGeom>
          <a:noFill/>
        </p:spPr>
        <p:txBody>
          <a:bodyPr wrap="square" lIns="0" tIns="0" rIns="0" bIns="0">
            <a:spAutoFit/>
          </a:bodyPr>
          <a:lstStyle/>
          <a:p>
            <a:pPr>
              <a:defRPr sz="900" b="1">
                <a:solidFill>
                  <a:srgbClr val="1C1E1C"/>
                </a:solidFill>
                <a:latin typeface="Calibri"/>
              </a:defRPr>
            </a:pPr>
            <a:r>
              <a:t>[15] Wang, J. et al. (2021). Soil salinity and nutrient mapping via Sentinel-2.</a:t>
            </a:r>
          </a:p>
          <a:p>
            <a:pPr>
              <a:defRPr sz="850">
                <a:solidFill>
                  <a:srgbClr val="6E7370"/>
                </a:solidFill>
                <a:latin typeface="Calibri"/>
              </a:defRPr>
            </a:pPr>
            <a:r>
              <a:t>Published in: MDPI Remote Sensing</a:t>
            </a:r>
          </a:p>
        </p:txBody>
      </p:sp>
      <p:sp>
        <p:nvSpPr>
          <p:cNvPr id="50" name="Rounded Rectangle 49"/>
          <p:cNvSpPr/>
          <p:nvPr/>
        </p:nvSpPr>
        <p:spPr>
          <a:xfrm>
            <a:off x="10378440" y="5166360"/>
            <a:ext cx="914400" cy="329184"/>
          </a:xfrm>
          <a:prstGeom prst="roundRect">
            <a:avLst/>
          </a:prstGeom>
          <a:solidFill>
            <a:srgbClr val="EBF3FC"/>
          </a:solidFill>
          <a:ln w="12700">
            <a:solidFill>
              <a:srgbClr val="186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864B9"/>
                </a:solidFill>
                <a:latin typeface="Calibri"/>
                <a:hlinkClick r:id="rId16"/>
              </a:rPr>
              <a:t>🔗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