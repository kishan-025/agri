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i.org/10.1016/j.rse.2019.01.011" TargetMode="External"/><Relationship Id="rId3" Type="http://schemas.openxmlformats.org/officeDocument/2006/relationships/hyperlink" Target="https://doi.org/10.3390/rs13101952" TargetMode="External"/><Relationship Id="rId4" Type="http://schemas.openxmlformats.org/officeDocument/2006/relationships/hyperlink" Target="https://doi.org/10.3390/s23041845" TargetMode="External"/><Relationship Id="rId5" Type="http://schemas.openxmlformats.org/officeDocument/2006/relationships/hyperlink" Target="https://www.redalyc.org/pdf/687/68759600010.pdf" TargetMode="External"/><Relationship Id="rId6" Type="http://schemas.openxmlformats.org/officeDocument/2006/relationships/hyperlink" Target="https://doi.org/10.1016/j.geoderma.2018.01.037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abs/2503.22276" TargetMode="External"/><Relationship Id="rId3" Type="http://schemas.openxmlformats.org/officeDocument/2006/relationships/hyperlink" Target="https://doi.org/10.3390/rs10081236" TargetMode="External"/><Relationship Id="rId4" Type="http://schemas.openxmlformats.org/officeDocument/2006/relationships/hyperlink" Target="https://doi.org/10.3389/frsen.2024.1342115" TargetMode="External"/><Relationship Id="rId5" Type="http://schemas.openxmlformats.org/officeDocument/2006/relationships/hyperlink" Target="https://doi.org/10.3390/s21186088" TargetMode="External"/><Relationship Id="rId6" Type="http://schemas.openxmlformats.org/officeDocument/2006/relationships/hyperlink" Target="https://doi.org/10.1109/ACCESS.2021.3083561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i.org/10.1080/10106049.2024.2319623" TargetMode="External"/><Relationship Id="rId3" Type="http://schemas.openxmlformats.org/officeDocument/2006/relationships/hyperlink" Target="https://doi.org/10.1016/j.geoderma.2019.06.012" TargetMode="External"/><Relationship Id="rId4" Type="http://schemas.openxmlformats.org/officeDocument/2006/relationships/hyperlink" Target="https://www.ijset.in" TargetMode="External"/><Relationship Id="rId5" Type="http://schemas.openxmlformats.org/officeDocument/2006/relationships/hyperlink" Target="https://cigrjournal.org" TargetMode="External"/><Relationship Id="rId6" Type="http://schemas.openxmlformats.org/officeDocument/2006/relationships/hyperlink" Target="https://doi.org/10.1016/j.geoderma.2020.114251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i.org/10.1016/j.rse.2019.01.011" TargetMode="External"/><Relationship Id="rId3" Type="http://schemas.openxmlformats.org/officeDocument/2006/relationships/hyperlink" Target="https://doi.org/10.3390/rs13101952" TargetMode="External"/><Relationship Id="rId4" Type="http://schemas.openxmlformats.org/officeDocument/2006/relationships/hyperlink" Target="https://doi.org/10.3390/s23041845" TargetMode="External"/><Relationship Id="rId5" Type="http://schemas.openxmlformats.org/officeDocument/2006/relationships/hyperlink" Target="https://www.redalyc.org/pdf/687/68759600010.pdf" TargetMode="External"/><Relationship Id="rId6" Type="http://schemas.openxmlformats.org/officeDocument/2006/relationships/hyperlink" Target="https://arxiv.org/abs/2503.22276" TargetMode="External"/><Relationship Id="rId7" Type="http://schemas.openxmlformats.org/officeDocument/2006/relationships/hyperlink" Target="https://doi.org/10.3390/rs10081236" TargetMode="External"/><Relationship Id="rId8" Type="http://schemas.openxmlformats.org/officeDocument/2006/relationships/hyperlink" Target="https://doi.org/10.3389/frsen.2024.1342115" TargetMode="External"/><Relationship Id="rId9" Type="http://schemas.openxmlformats.org/officeDocument/2006/relationships/hyperlink" Target="https://doi.org/10.1016/j.geoderma.2018.01.037" TargetMode="External"/><Relationship Id="rId10" Type="http://schemas.openxmlformats.org/officeDocument/2006/relationships/hyperlink" Target="https://doi.org/10.1080/10106049.2024.2319623" TargetMode="External"/><Relationship Id="rId11" Type="http://schemas.openxmlformats.org/officeDocument/2006/relationships/hyperlink" Target="https://doi.org/10.1016/j.geoderma.2019.06.012" TargetMode="External"/><Relationship Id="rId12" Type="http://schemas.openxmlformats.org/officeDocument/2006/relationships/hyperlink" Target="https://www.ijset.in" TargetMode="External"/><Relationship Id="rId13" Type="http://schemas.openxmlformats.org/officeDocument/2006/relationships/hyperlink" Target="https://cigrjournal.org" TargetMode="External"/><Relationship Id="rId14" Type="http://schemas.openxmlformats.org/officeDocument/2006/relationships/hyperlink" Target="https://doi.org/10.1016/j.geoderma.2020.114251" TargetMode="External"/><Relationship Id="rId15" Type="http://schemas.openxmlformats.org/officeDocument/2006/relationships/hyperlink" Target="https://doi.org/10.1109/ACCESS.2021.3083561" TargetMode="External"/><Relationship Id="rId16" Type="http://schemas.openxmlformats.org/officeDocument/2006/relationships/hyperlink" Target="https://doi.org/10.3390/rs13071312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C59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822960"/>
            <a:ext cx="10058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300" b="1">
                <a:solidFill>
                  <a:srgbClr val="298055"/>
                </a:solidFill>
              </a:defRPr>
            </a:pPr>
            <a:r>
              <a:t>CAPSTONE ENGINEERING PROJECT PROPOSAL (PHASE 1)</a:t>
            </a:r>
          </a:p>
          <a:p>
            <a:pPr>
              <a:spcAft>
                <a:spcPts val="2200"/>
              </a:spcAft>
              <a:defRPr sz="3000" b="1">
                <a:solidFill>
                  <a:srgbClr val="123026"/>
                </a:solidFill>
              </a:defRPr>
            </a:pPr>
            <a:r>
              <a:t>AI-Driven Satellite Remote Sensing for Field-Scale</a:t>
            </a:r>
            <a:br/>
            <a:r>
              <a:t>Soil Nutrient (NPK) and Health Assessment</a:t>
            </a:r>
          </a:p>
          <a:p>
            <a:pPr>
              <a:spcAft>
                <a:spcPts val="2000"/>
              </a:spcAft>
              <a:defRPr sz="1600" b="1">
                <a:solidFill>
                  <a:srgbClr val="C5911E"/>
                </a:solidFill>
              </a:defRPr>
            </a:pPr>
            <a:r>
              <a:t>Under the Guidance of: Dr. Pramod T. C.</a:t>
            </a:r>
          </a:p>
          <a:p>
            <a:pPr>
              <a:spcAft>
                <a:spcPts val="2000"/>
              </a:spcAft>
              <a:defRPr sz="1300">
                <a:solidFill>
                  <a:srgbClr val="212529"/>
                </a:solidFill>
              </a:defRPr>
            </a:pPr>
            <a:r>
              <a:t>Project Team &amp; Specialization Roles:</a:t>
            </a:r>
            <a:br/>
            <a:r>
              <a:t>• Member 1: Data Engineering &amp; Satellite Preprocessing Lead</a:t>
            </a:r>
            <a:br/>
            <a:r>
              <a:t>• Member 2: Machine Learning &amp; Predictive Modeling Lead</a:t>
            </a:r>
            <a:br/>
            <a:r>
              <a:t>• Member 3: Soil Target Chemistry &amp; Advisory System Lead</a:t>
            </a:r>
            <a:br/>
            <a:r>
              <a:t>• Member 4: Spatial GIS Integration &amp; Inference Pipeline Lead</a:t>
            </a:r>
          </a:p>
          <a:p>
            <a:pPr>
              <a:defRPr sz="1100">
                <a:solidFill>
                  <a:srgbClr val="6C757D"/>
                </a:solidFill>
              </a:defRPr>
            </a:pPr>
            <a:r>
              <a:t>Department of Computer Science &amp; Engineering | Academic Year 2025–2026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5911E"/>
                </a:solidFill>
              </a:defRPr>
            </a:pPr>
            <a:r>
              <a:t>PHASE 1 PROJECT REVIEW</a:t>
            </a:r>
          </a:p>
          <a:p>
            <a:pPr>
              <a:defRPr sz="2200" b="1">
                <a:solidFill>
                  <a:srgbClr val="123026"/>
                </a:solidFill>
              </a:defRPr>
            </a:pPr>
            <a:r>
              <a:t>Introduction &amp; Project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98055"/>
                </a:solidFill>
              </a:defRPr>
            </a:pPr>
            <a:r>
              <a:t>The Critical Need for Soil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/>
            </a:pPr>
            <a:r>
              <a:t>• Foundation of Agriculture: Healthy soil fertility directly dictates crop yield, food quality, and agricultural profitability.</a:t>
            </a:r>
          </a:p>
          <a:p>
            <a:pPr>
              <a:spcAft>
                <a:spcPts val="1200"/>
              </a:spcAft>
              <a:defRPr sz="1300"/>
            </a:pPr>
            <a:r>
              <a:t>• Primary Nutrients: Nitrogen (N), Phosphorus (P), Potassium (K), Soil Organic Carbon (SOC), and pH are the critical metrics for soil health.</a:t>
            </a:r>
          </a:p>
          <a:p>
            <a:pPr>
              <a:spcAft>
                <a:spcPts val="1200"/>
              </a:spcAft>
              <a:defRPr sz="1300"/>
            </a:pPr>
            <a:r>
              <a:t>• Precision Agriculture Shift: Modern farming is shifting from wasteful blanket fertilization to site-specific variable-rate nutrient management.</a:t>
            </a:r>
          </a:p>
          <a:p>
            <a:pPr>
              <a:spcAft>
                <a:spcPts val="1200"/>
              </a:spcAft>
              <a:defRPr sz="1300"/>
            </a:pPr>
            <a:r>
              <a:t>• The Smallholder Dilemma: Less than 15% of farmers test soil regularly due to testing delays, lab unavailability, and testing expenses.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98055"/>
                </a:solidFill>
              </a:defRPr>
            </a:pPr>
            <a:r>
              <a:t>Proposed Solution &amp; Innovation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10312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/>
            </a:pPr>
            <a:r>
              <a:t>• Satellite Earth Observation: Utilizing European Space Agency (ESA) Copernicus Sentinel-2 multispectral imagery (10m–20m resolution, 5-day revisit).</a:t>
            </a:r>
          </a:p>
          <a:p>
            <a:pPr>
              <a:spcAft>
                <a:spcPts val="1200"/>
              </a:spcAft>
              <a:defRPr sz="1300"/>
            </a:pPr>
            <a:r>
              <a:t>• Chemometric Feature Engineering: Extracting 10 spectral bands (VNIR to SWIR) and computing specialized mineral/canopy indices (BSI, NDRE, Clay Ratio).</a:t>
            </a:r>
          </a:p>
          <a:p>
            <a:pPr>
              <a:spcAft>
                <a:spcPts val="1200"/>
              </a:spcAft>
              <a:defRPr sz="1300"/>
            </a:pPr>
            <a:r>
              <a:t>• Non-Invasive AI Regression: Employing robust Gradient Boosted Decision Trees (XGBoost, LightGBM) to map surface reflectance to soil chemistry.</a:t>
            </a:r>
          </a:p>
          <a:p>
            <a:pPr>
              <a:spcAft>
                <a:spcPts val="1200"/>
              </a:spcAft>
              <a:defRPr sz="1300"/>
            </a:pPr>
            <a:r>
              <a:t>• Actionable Farmer Output: Generating 2D spatial fertility heatmaps and tailored fertilizer dosage schedules directly accessible via web GIS.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5911E"/>
                </a:solidFill>
              </a:defRPr>
            </a:pPr>
            <a:r>
              <a:t>LITERATURE SURVEY (1/3)</a:t>
            </a:r>
          </a:p>
          <a:p>
            <a:pPr>
              <a:defRPr sz="2200" b="1">
                <a:solidFill>
                  <a:srgbClr val="123026"/>
                </a:solidFill>
              </a:defRPr>
            </a:pPr>
            <a:r>
              <a:t>Literature Survey: Data Engineering &amp; Soil Spectroscopy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3619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D6EFD"/>
                </a:solidFill>
                <a:hlinkClick r:id="rId2"/>
              </a:rPr>
              <a:t>Castaldi et al. (2019) – Remote Sensing of Environment  [🔗 View Paper / DOI]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Evaluated Sentinel-2 MSI for predicting Soil Organic Carbon and texture using bare-soil compositing across European croplands. Proved 10m/20m bands provide sufficient fidelity to map topsoil properties.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2316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9631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D6EFD"/>
                </a:solidFill>
                <a:hlinkClick r:id="rId3"/>
              </a:rPr>
              <a:t>Gholizadeh et al. (2021) – MDPI Remote Sensing  [🔗 View Paper / DOI]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Demonstrated multi-temporal Sentinel-2 and Landsat-8 series to estimate topsoil attributes. Established that temporal median compositing cancels out ephemeral rainfall and atmospheric noise.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8328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5643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D6EFD"/>
                </a:solidFill>
                <a:hlinkClick r:id="rId4"/>
              </a:rPr>
              <a:t>Piccoli et al. (2023) – MDPI Sensors  [🔗 View Paper / DOI]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Coupled multispectral satellite imagery with Digital Elevation Model (DEM) derivatives (slope, Topographic Wetness Index). Proved terrain hydrology significantly improves nutrient prediction.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4340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41655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D6EFD"/>
                </a:solidFill>
                <a:hlinkClick r:id="rId5"/>
              </a:rPr>
              <a:t>Demattê et al. (2018) – Revista Ciência Agronômica  [🔗 View Paper / DOI]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Constructed comprehensive soil spectral libraries (400–2500 nm). Characterized fundamental absorption overtones for clay minerals (2200 nm), organic matter, and moisture baselines.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0352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7667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D6EFD"/>
                </a:solidFill>
                <a:hlinkClick r:id="rId6"/>
              </a:rPr>
              <a:t>Dotto et al. (2018) – Geoderma / ScienceDirect  [🔗 View Paper / DOI]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Demonstrated that predicting secondary nutrients (P and K) requires fusing satellite spectral data with environmental covariates (climate and topography) due to mineral lattice binding.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5911E"/>
                </a:solidFill>
              </a:defRPr>
            </a:pPr>
            <a:r>
              <a:t>LITERATURE SURVEY (2/3)</a:t>
            </a:r>
          </a:p>
          <a:p>
            <a:pPr>
              <a:defRPr sz="2200" b="1">
                <a:solidFill>
                  <a:srgbClr val="123026"/>
                </a:solidFill>
              </a:defRPr>
            </a:pPr>
            <a:r>
              <a:t>Literature Survey: Machine Learning &amp; Spatial Modeling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3619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D6EFD"/>
                </a:solidFill>
                <a:hlinkClick r:id="rId2"/>
              </a:rPr>
              <a:t>Kammerlander et al. (2025) – arXiv:2503.22276  [🔗 View Paper / DOI]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Benchmarked Random Forest, XGBoost, and FCNN using Sentinel-2, ERA5 weather, and geospatial foundation embeddings on 20,000+ topsoil samples. Proved tree-based ensembles outperform neural networks on tabular spectral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2316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9631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D6EFD"/>
                </a:solidFill>
                <a:hlinkClick r:id="rId3"/>
              </a:rPr>
              <a:t>Vohland et al. (2018) – MDPI Remote Sensing  [🔗 View Paper / DOI]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Compared Support Vector Machines, PLSR, and Random Forest on Sentinel-2 data. Found non-linear ensemble models handle inter-band collinearity far better than traditional linear chemometrics.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8328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5643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D6EFD"/>
                </a:solidFill>
                <a:hlinkClick r:id="rId4"/>
              </a:rPr>
              <a:t>Frontiers in Remote Sensing (2024) – Meta-Analysis  [🔗 View Paper / DOI]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Systematic review of 100+ papers mapping soil texture and nutrients from orbit. Identified realistic predictive ceilings and highlighted feature selection to avoid overfitting.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4340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41655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D6EFD"/>
                </a:solidFill>
                <a:hlinkClick r:id="rId5"/>
              </a:rPr>
              <a:t>MDPI Sensors (2021) – Spectroscopic Machine Learning Strategy  [🔗 View Paper / DOI]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Explored feature dimensionality reduction (PCA, spectral ratio indices) and inference optimization, demonstrating robust prediction of macronutrients when moisture is normalized.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0352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7667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D6EFD"/>
                </a:solidFill>
                <a:hlinkClick r:id="rId6"/>
              </a:rPr>
              <a:t>IEEE Access (2021) – Soil Organic Matter via Sentinel-2  [🔗 View Paper / DOI]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Developed an automated pixel-by-pixel inference pipeline translating Level-2A surface reflectance tiles into continuous organic matter percentage maps across agricultural parcels.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5911E"/>
                </a:solidFill>
              </a:defRPr>
            </a:pPr>
            <a:r>
              <a:t>LITERATURE SURVEY (3/3)</a:t>
            </a:r>
          </a:p>
          <a:p>
            <a:pPr>
              <a:defRPr sz="2200" b="1">
                <a:solidFill>
                  <a:srgbClr val="123026"/>
                </a:solidFill>
              </a:defRPr>
            </a:pPr>
            <a:r>
              <a:t>Literature Survey: Nutrient Targets &amp; Spatial Mapping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3619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D6EFD"/>
                </a:solidFill>
                <a:hlinkClick r:id="rId2"/>
              </a:rPr>
              <a:t>Charishma et al. (2024) – Taylor &amp; Francis / Geocarto  [🔗 View Paper / DOI]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Investigated topsoil physical-chemical property estimation via Sentinel-2, identifying band combinations sensitive to available nitrogen and soil organic fractions in the top 0–20 cm plow layer.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2316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9631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D6EFD"/>
                </a:solidFill>
                <a:hlinkClick r:id="rId3"/>
              </a:rPr>
              <a:t>Ng et al. (2019) – Geoderma / ScienceDirect  [🔗 View Paper / DOI]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Evaluated Sentinel-2 spectral data for mapping topsoil organic carbon (SOC), proving robust correlation (R² &gt; 0.70) when crop residue and dry vegetation are separated via SWIR indices.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8328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5643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D6EFD"/>
                </a:solidFill>
                <a:hlinkClick r:id="rId4"/>
              </a:rPr>
              <a:t>Bhargavi &amp; Anitha (2026) – IJSET  [🔗 View Paper / DOI]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Developed a soil nutrient prediction model using data mining techniques; demonstrated classification of continuous nutrient ppm values into actionable Low/Medium/High fertility management tiers.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4340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41655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D6EFD"/>
                </a:solidFill>
                <a:hlinkClick r:id="rId5"/>
              </a:rPr>
              <a:t>CIGR Journal (2025) – Deep Learning Nutrient Framework  [🔗 View Paper / DOI]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Proposed a sensor-based framework for soil nutrient prediction using hybrid feature extraction, combining remote spectral reflectance with environmental variables.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0352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7667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D6EFD"/>
                </a:solidFill>
                <a:hlinkClick r:id="rId6"/>
              </a:rPr>
              <a:t>Taghizadeh-Mehrjardi et al. (2020) &amp; Wang et al. (2021) – Geoderma / MDPI  [🔗 View Paper / DOI]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Formulated digital soil mapping (DSM) spatial interpolation and uncertainty quantification, mapping soil salinity and nutrient gradients in agricultural zones.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5911E"/>
                </a:solidFill>
              </a:defRPr>
            </a:pPr>
            <a:r>
              <a:t>PHASE 1 PROJECT REVIEW</a:t>
            </a:r>
          </a:p>
          <a:p>
            <a:pPr>
              <a:defRPr sz="2200" b="1">
                <a:solidFill>
                  <a:srgbClr val="123026"/>
                </a:solidFill>
              </a:defRPr>
            </a:pPr>
            <a:r>
              <a:t>Limitations of the Existing System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98055"/>
                </a:solidFill>
              </a:defRPr>
            </a:pPr>
            <a:r>
              <a:t>Traditional Wet-Chemical Soil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/>
            </a:pPr>
            <a:r>
              <a:t>❌ Time-Intensive: Laboratory turnaround takes 2 to 4 weeks, frequently missing the crucial pre-sowing fertilization window.</a:t>
            </a:r>
          </a:p>
          <a:p>
            <a:pPr>
              <a:spcAft>
                <a:spcPts val="1200"/>
              </a:spcAft>
              <a:defRPr sz="1200"/>
            </a:pPr>
            <a:r>
              <a:t>❌ High Economic Cost: Testing costs ₹500 to ₹2,500 per sample, making routine and regular testing unaffordable for smallholders.</a:t>
            </a:r>
          </a:p>
          <a:p>
            <a:pPr>
              <a:spcAft>
                <a:spcPts val="1200"/>
              </a:spcAft>
              <a:defRPr sz="1200"/>
            </a:pPr>
            <a:r>
              <a:t>❌ Severe Spatial Sparsity: A single composite soil sample is collected for a 5-to-10 acre parcel, completely erasing intra-field spatial variability.</a:t>
            </a:r>
          </a:p>
          <a:p>
            <a:pPr>
              <a:spcAft>
                <a:spcPts val="1200"/>
              </a:spcAft>
              <a:defRPr sz="1200"/>
            </a:pPr>
            <a:r>
              <a:t>❌ Destructive &amp; Labor-Heavy: Requires manual core drilling, bagging, transport, chemical reagents (Kjeldahl digestion, Olsen extraction), and hazardous chemical disposal.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98055"/>
                </a:solidFill>
              </a:defRPr>
            </a:pPr>
            <a:r>
              <a:t>Limitations of Naive Satellite Approaches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10312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/>
            </a:pPr>
            <a:r>
              <a:t>⚠️ The Vegetation Obstruction Dilemma: Prior simple models fail when crops cover the land, confusing green leaf chlorophyll with bare soil reflectance.</a:t>
            </a:r>
          </a:p>
          <a:p>
            <a:pPr>
              <a:spcAft>
                <a:spcPts val="1200"/>
              </a:spcAft>
              <a:defRPr sz="1200"/>
            </a:pPr>
            <a:r>
              <a:t>⚠️ Ignoring Sensor Physics: Naive models assume direct optical detection of elemental P and K, ignoring that P and K depend on secondary mineral covariance (clays and iron oxides).</a:t>
            </a:r>
          </a:p>
          <a:p>
            <a:pPr>
              <a:spcAft>
                <a:spcPts val="1200"/>
              </a:spcAft>
              <a:defRPr sz="1200"/>
            </a:pPr>
            <a:r>
              <a:t>⚠️ Spatial Data Leakage in ML: Standard random train/test splits cause extreme spatial autocorrelation leakage, creating artificially inflated R² scores that fail in real-world fields.</a:t>
            </a:r>
          </a:p>
          <a:p>
            <a:pPr>
              <a:spcAft>
                <a:spcPts val="1200"/>
              </a:spcAft>
              <a:defRPr sz="1200"/>
            </a:pPr>
            <a:r>
              <a:t>⚠️ Lack of Farmer Advisory: Existing research stops at raw scientific numbers (ppm) without translating predictions into practical fertilizer bag splits (Urea, DAP, MOP).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5911E"/>
                </a:solidFill>
              </a:defRPr>
            </a:pPr>
            <a:r>
              <a:t>PHASE 1 PROJECT REVIEW</a:t>
            </a:r>
          </a:p>
          <a:p>
            <a:pPr>
              <a:defRPr sz="2200" b="1">
                <a:solidFill>
                  <a:srgbClr val="123026"/>
                </a:solidFill>
              </a:defRPr>
            </a:pPr>
            <a:r>
              <a:t>Problem Statement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10698480" cy="4754880"/>
          </a:xfrm>
          <a:prstGeom prst="roundRect">
            <a:avLst/>
          </a:prstGeom>
          <a:solidFill>
            <a:srgbClr val="C5911E"/>
          </a:solidFill>
          <a:ln w="1905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98055"/>
                </a:solidFill>
              </a:defRPr>
            </a:pPr>
            <a:r>
              <a:t>Formal Problem Formulation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10058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i="1">
                <a:solidFill>
                  <a:srgbClr val="123026"/>
                </a:solidFill>
              </a:defRPr>
            </a:pPr>
            <a:r>
              <a:t>"Conventional laboratory soil testing methods are financially inaccessible, slow, and spatially sparse for smallholder farmers, leading to indiscriminate chemical fertilizer application, severe soil degradation, and diminished crop productivity.</a:t>
            </a:r>
          </a:p>
          <a:p>
            <a:pPr>
              <a:spcAft>
                <a:spcPts val="1400"/>
              </a:spcAft>
              <a:defRPr sz="1300">
                <a:solidFill>
                  <a:srgbClr val="212529"/>
                </a:solidFill>
              </a:defRPr>
            </a:pPr>
            <a:r>
              <a:t>This project formulates an automated, cloud-native remote sensing system to non-invasively estimate topsoil macronutrients—Nitrogen (N), Phosphorus (P), Potassium (K), Soil Organic Carbon (SOC), and pH—at a 10-meter field resolution from spaceborne Copernicus Sentinel-2 multispectral imagery.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Key Research Challenges Solved in This Work:</a:t>
            </a:r>
            <a:br/>
            <a:r>
              <a:t>1. Resolving the Depth Paradox: Accounting for optical skin depth (&lt;1.5 mm) vs. the 0–20 cm agricultural plow layer through tillage homogenization and canopy bio-indicator proxies.</a:t>
            </a:r>
            <a:br/>
            <a:r>
              <a:t>2. Bare Soil Isolation: Eliminating cloud, crop residue, and moisture noise via multi-temporal Barest Earth compositing (NDVI &lt; 0.25 and BSI &gt; 0).</a:t>
            </a:r>
            <a:br/>
            <a:r>
              <a:t>3. Secondary Covariance Modeling: Formulating robust machine learning regression architectures (XGBoost/LightGBM) under rigorous Spatial Block Cross-Validation to guarantee genuine out-of-field generalization."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5911E"/>
                </a:solidFill>
              </a:defRPr>
            </a:pPr>
            <a:r>
              <a:t>PHASE 1 PROJECT REVIEW</a:t>
            </a:r>
          </a:p>
          <a:p>
            <a:pPr>
              <a:defRPr sz="2200" b="1">
                <a:solidFill>
                  <a:srgbClr val="123026"/>
                </a:solidFill>
              </a:defRPr>
            </a:pPr>
            <a:r>
              <a:t>Project 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3619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23026"/>
                </a:solidFill>
              </a:defRPr>
            </a:pPr>
            <a:r>
              <a:t>🎯 Objective 1: Cloud-Native Satellite Data Ingestion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Architect an automated data pipeline utilizing Microsoft Planetary Computer STAC API and Cloud-Optimized GeoTIFFs (COGs) to stream 10 Sentinel-2 multispectral bands (10m–20m) for custom farm polygons in sub-second latency without full-tile overhead.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2316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9631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23026"/>
                </a:solidFill>
              </a:defRPr>
            </a:pPr>
            <a:r>
              <a:t>🎯 Objective 2: Multi-Temporal Bare-Soil Preprocessing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Develop an automated temporal filtering engine that queries historical satellite passes, applies Scene Classification Layer (SCL) cloud masks, and isolates exposed topsoil using NDVI (&lt;0.25) and Bare Soil Index (BSI &gt; 0) median aggregation.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8328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5643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23026"/>
                </a:solidFill>
              </a:defRPr>
            </a:pPr>
            <a:r>
              <a:t>🎯 Objective 3: Chemometric &amp; Mineral Feature Engineering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Extract 10 spectral bands and compute 7+ diagnostic indices: Clay Mineral Ratio (B11/B12), Ferric Iron Index (B4/B2), Carbonate Index (B12/B11), NDRE (Nitrogen), and Soil Brightness Index to capture geochemical covariance.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4340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41655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23026"/>
                </a:solidFill>
              </a:defRPr>
            </a:pPr>
            <a:r>
              <a:t>🎯 Objective 4: Robust Machine Learning Regression &amp; Spatial Validation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Train and benchmark Gradient Boosted Decision Trees (XGBoost, LightGBM, Random Forest) against standardized ground-truth soil databases, evaluated strictly using Spatial Block Cross-Validation (GroupKFold) to prevent geographic data leakage.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0352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7667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23026"/>
                </a:solidFill>
              </a:defRPr>
            </a:pPr>
            <a:r>
              <a:t>🎯 Objective 5: Spatial Heatmap Generation &amp; Agronomic Advisory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Generate intra-field 2D soil nutrient heatmaps (10m resolution) and translate continuous nutrient values into farmer-friendly Soil Health Card tiers (Low/Medium/High) with tailored fertilizer split dosage recommendations.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5911E"/>
                </a:solidFill>
              </a:defRPr>
            </a:pPr>
            <a:r>
              <a:t>SYSTEM DESIGN (1/2)</a:t>
            </a:r>
          </a:p>
          <a:p>
            <a:pPr>
              <a:defRPr sz="2200" b="1">
                <a:solidFill>
                  <a:srgbClr val="123026"/>
                </a:solidFill>
              </a:defRPr>
            </a:pPr>
            <a:r>
              <a:t>System Design: End-to-End Visual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2194560" cy="3108960"/>
          </a:xfrm>
          <a:prstGeom prst="roundRect">
            <a:avLst/>
          </a:prstGeom>
          <a:solidFill>
            <a:srgbClr val="EBF5F0"/>
          </a:solidFill>
          <a:ln w="1905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16459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98055"/>
                </a:solidFill>
              </a:defRPr>
            </a:pPr>
            <a:r>
              <a:t>1. INGESTION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03120"/>
            <a:ext cx="1920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12529"/>
                </a:solidFill>
              </a:defRPr>
            </a:pPr>
            <a:r>
              <a:t>Farmer Polygon</a:t>
            </a:r>
            <a:br/>
            <a:r>
              <a:t>STAC API Query</a:t>
            </a:r>
            <a:br/>
            <a:r>
              <a:t>Cloud-Optimized GeoTIFFs</a:t>
            </a:r>
            <a:br/>
            <a:r>
              <a:t>HTTP Range Streaming</a:t>
            </a:r>
            <a:br/>
            <a:r>
              <a:t>(Sub-second Latency)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554480"/>
            <a:ext cx="2194560" cy="3108960"/>
          </a:xfrm>
          <a:prstGeom prst="roundRect">
            <a:avLst/>
          </a:prstGeom>
          <a:solidFill>
            <a:srgbClr val="EBF5F0"/>
          </a:solidFill>
          <a:ln w="1905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0" y="1737360"/>
            <a:ext cx="16459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98055"/>
                </a:solidFill>
              </a:defRPr>
            </a:pPr>
            <a:r>
              <a:t>2. FILTERING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2103120"/>
            <a:ext cx="1920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12529"/>
                </a:solidFill>
              </a:defRPr>
            </a:pPr>
            <a:r>
              <a:t>SCL Cloud Mask</a:t>
            </a:r>
            <a:br/>
            <a:r>
              <a:t>Temporal Lookback</a:t>
            </a:r>
            <a:br/>
            <a:r>
              <a:t>NDVI &lt; 0.25 Filter</a:t>
            </a:r>
            <a:br/>
            <a:r>
              <a:t>BSI &gt; 0 Bare Soil</a:t>
            </a:r>
            <a:br/>
            <a:r>
              <a:t>Median Composite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554480"/>
            <a:ext cx="2194560" cy="3108960"/>
          </a:xfrm>
          <a:prstGeom prst="roundRect">
            <a:avLst/>
          </a:prstGeom>
          <a:solidFill>
            <a:srgbClr val="EBF5F0"/>
          </a:solidFill>
          <a:ln w="1905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737360"/>
            <a:ext cx="16459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98055"/>
                </a:solidFill>
              </a:defRPr>
            </a:pPr>
            <a:r>
              <a:t>3. AI MODELING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103120"/>
            <a:ext cx="1920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12529"/>
                </a:solidFill>
              </a:defRPr>
            </a:pPr>
            <a:r>
              <a:t>10 Bands Resampling</a:t>
            </a:r>
            <a:br/>
            <a:r>
              <a:t>7 Chemometric Indices</a:t>
            </a:r>
            <a:br/>
            <a:r>
              <a:t>XGBoost Regressors</a:t>
            </a:r>
            <a:br/>
            <a:r>
              <a:t>Spatial GroupKFold</a:t>
            </a:r>
            <a:br/>
            <a:r>
              <a:t>Multi-Target Output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1554480"/>
            <a:ext cx="2194560" cy="3108960"/>
          </a:xfrm>
          <a:prstGeom prst="roundRect">
            <a:avLst/>
          </a:prstGeom>
          <a:solidFill>
            <a:srgbClr val="EBF5F0"/>
          </a:solidFill>
          <a:ln w="1905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0" y="1737360"/>
            <a:ext cx="16459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98055"/>
                </a:solidFill>
              </a:defRPr>
            </a:pPr>
            <a:r>
              <a:t>4. ADVISORY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72600" y="2103120"/>
            <a:ext cx="1920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12529"/>
                </a:solidFill>
              </a:defRPr>
            </a:pPr>
            <a:r>
              <a:t>2D Nutrient Heatmap</a:t>
            </a:r>
            <a:br/>
            <a:r>
              <a:t>Intra-Field Zonation</a:t>
            </a:r>
            <a:br/>
            <a:r>
              <a:t>NPK Scorecard</a:t>
            </a:r>
            <a:br/>
            <a:r>
              <a:t>Fertilizer Dosage</a:t>
            </a:r>
            <a:br/>
            <a:r>
              <a:t>(Urea/DAP/MOP)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063240" y="2926080"/>
            <a:ext cx="411480" cy="274320"/>
          </a:xfrm>
          <a:prstGeom prst="rightArrow">
            <a:avLst/>
          </a:prstGeom>
          <a:solidFill>
            <a:srgbClr val="C59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5897880" y="2926080"/>
            <a:ext cx="411480" cy="274320"/>
          </a:xfrm>
          <a:prstGeom prst="rightArrow">
            <a:avLst/>
          </a:prstGeom>
          <a:solidFill>
            <a:srgbClr val="C59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8732520" y="2926080"/>
            <a:ext cx="411480" cy="274320"/>
          </a:xfrm>
          <a:prstGeom prst="rightArrow">
            <a:avLst/>
          </a:prstGeom>
          <a:solidFill>
            <a:srgbClr val="C59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4846320"/>
            <a:ext cx="10698480" cy="146304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02920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98055"/>
                </a:solidFill>
              </a:defRPr>
            </a:pPr>
            <a:r>
              <a:t>Data Flow Architecture Summary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3035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12529"/>
                </a:solidFill>
              </a:defRPr>
            </a:pPr>
            <a:r>
              <a:t>• Input Layer: Takes custom farmer boundaries (GeoJSON) and queries Copernicus Sentinel-2 L2A BOA reflectance without downloading full 1GB tiles.</a:t>
            </a:r>
            <a:br/>
            <a:r>
              <a:t>• Processing Layer: Normalizes surface reflectance (DN / 10000), isolates bare soil pixels, and applies chemometric transforms.</a:t>
            </a:r>
            <a:br/>
            <a:r>
              <a:t>• Output Layer: Produces high-resolution 10-meter nutrient distribution rasters and automated agronomic recommendations.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5911E"/>
                </a:solidFill>
              </a:defRPr>
            </a:pPr>
            <a:r>
              <a:t>SYSTEM DESIGN (2/2)</a:t>
            </a:r>
          </a:p>
          <a:p>
            <a:pPr>
              <a:defRPr sz="2200" b="1">
                <a:solidFill>
                  <a:srgbClr val="123026"/>
                </a:solidFill>
              </a:defRPr>
            </a:pPr>
            <a:r>
              <a:t>Data Pipeline &amp; Chemometric Feature Engineering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98055"/>
                </a:solidFill>
              </a:defRPr>
            </a:pPr>
            <a:r>
              <a:t>STAGE 1: 10 Science Bands Extraction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12529"/>
                </a:solidFill>
              </a:defRPr>
            </a:pPr>
            <a:r>
              <a:t>• B02 (Blue 490nm): Iron oxide baseline</a:t>
            </a:r>
            <a:br/>
            <a:r>
              <a:t>• B03 (Green 560nm): Residue separation</a:t>
            </a:r>
            <a:br/>
            <a:r>
              <a:t>• B04 (Red 665nm): Soil line baseline</a:t>
            </a:r>
            <a:br/>
            <a:r>
              <a:t>• B05, B06, B07 (Red Edge 705-783nm): Nitrogen &amp; Chlorophyll</a:t>
            </a:r>
            <a:br/>
            <a:r>
              <a:t>• B08, B8A (NIR 842-865nm): Biomass &amp; Hematite/Goethite</a:t>
            </a:r>
            <a:br/>
            <a:r>
              <a:t>• B11 (SWIR-1 1610nm): Organic Carbon &amp; Moisture</a:t>
            </a:r>
            <a:br/>
            <a:r>
              <a:t>• B12 (SWIR-2 2190nm): Clay minerals, P, K &amp; Calcite (pH)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737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98055"/>
                </a:solidFill>
              </a:defRPr>
            </a:pPr>
            <a:r>
              <a:t>STAGE 2: Geochemical Index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10312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12529"/>
                </a:solidFill>
              </a:defRPr>
            </a:pPr>
            <a:r>
              <a:t>• Bare Soil Index (BSI):</a:t>
            </a:r>
            <a:br/>
            <a:r>
              <a:t>  ((B11+B4)-(B8+B2)) / ((B11+B4)+(B8+B2))</a:t>
            </a:r>
            <a:br/>
            <a:r>
              <a:t>• Clay Mineral Ratio (CMR):</a:t>
            </a:r>
            <a:br/>
            <a:r>
              <a:t>  B11 / B12 (Proxy for Clay, P, and K CEC)</a:t>
            </a:r>
            <a:br/>
            <a:r>
              <a:t>• Ferric Iron Index (FII):</a:t>
            </a:r>
            <a:br/>
            <a:r>
              <a:t>  B4 / B2 (Phosphate adsorption sites)</a:t>
            </a:r>
            <a:br/>
            <a:r>
              <a:t>• Carbonate Index (CI):</a:t>
            </a:r>
            <a:br/>
            <a:r>
              <a:t>  B12 / B11 (Calcite at 2340nm for pH)</a:t>
            </a:r>
            <a:br/>
            <a:r>
              <a:t>• Red Edge Nitrogen (NDRE):</a:t>
            </a:r>
            <a:br/>
            <a:r>
              <a:t>  (B8-B5) / (B8+B5) (Canopy RuBisCO N)</a:t>
            </a:r>
            <a:br/>
            <a:r>
              <a:t>• Soil Brightness: sqrt((B4²+B3²+B8²)/3)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55448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737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98055"/>
                </a:solidFill>
              </a:defRPr>
            </a:pPr>
            <a:r>
              <a:t>STAGE 3: ML Model &amp;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10312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12529"/>
                </a:solidFill>
              </a:defRPr>
            </a:pPr>
            <a:r>
              <a:t>• Input Tensor: 10 Bands + 7 Indices + DEM</a:t>
            </a:r>
            <a:br/>
            <a:r>
              <a:t>• Target Chemical Array: [N, P, K, pH, SOC]</a:t>
            </a:r>
            <a:br/>
            <a:r>
              <a:t>• Regression Algorithms:</a:t>
            </a:r>
            <a:br/>
            <a:r>
              <a:t>  XGBoost, LightGBM, Random Forest</a:t>
            </a:r>
            <a:br/>
            <a:r>
              <a:t>• Spatial Block Cross-Validation:</a:t>
            </a:r>
            <a:br/>
            <a:r>
              <a:t>  GroupKFold by regional administrative</a:t>
            </a:r>
            <a:br/>
            <a:r>
              <a:t>  units to eliminate spatial leakage</a:t>
            </a:r>
            <a:br/>
            <a:r>
              <a:t>• Evaluation Metrics:</a:t>
            </a:r>
            <a:br/>
            <a:r>
              <a:t>  R², RMSE, and RPIQ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069080" y="3657600"/>
            <a:ext cx="274320" cy="228600"/>
          </a:xfrm>
          <a:prstGeom prst="rightArrow">
            <a:avLst/>
          </a:prstGeom>
          <a:solidFill>
            <a:srgbClr val="C59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7818120" y="3657600"/>
            <a:ext cx="274320" cy="228600"/>
          </a:xfrm>
          <a:prstGeom prst="rightArrow">
            <a:avLst/>
          </a:prstGeom>
          <a:solidFill>
            <a:srgbClr val="C59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5911E"/>
                </a:solidFill>
              </a:defRPr>
            </a:pPr>
            <a:r>
              <a:t>PHASE 1 PROJECT REVIEW</a:t>
            </a:r>
          </a:p>
          <a:p>
            <a:pPr>
              <a:defRPr sz="2200" b="1">
                <a:solidFill>
                  <a:srgbClr val="123026"/>
                </a:solidFill>
              </a:defRPr>
            </a:pPr>
            <a:r>
              <a:t>Applications &amp; Practical Relevance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3619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23026"/>
                </a:solidFill>
              </a:defRPr>
            </a:pPr>
            <a:r>
              <a:t>🌾 Precision Agriculture &amp; Variable Rate Application (VRA)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Enables modern tractor sprayers and drone spreaders to apply differential fertilizer dosages across high-deficiency and high-fertility zones within the same parcel, reducing input costs by up to 25%.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2316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9631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23026"/>
                </a:solidFill>
              </a:defRPr>
            </a:pPr>
            <a:r>
              <a:t>🌾 Accessible Digital Soil Health Cards for Smallholders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Provides instantaneous, free soil condition assessments for smallholder farmers who lack physical access to government soil testing laboratories or cannot afford private testing.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8328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5643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23026"/>
                </a:solidFill>
              </a:defRPr>
            </a:pPr>
            <a:r>
              <a:t>🌾 Environmental Protection &amp; Groundwater Safeguards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Prevents indiscriminate nitrogen broadcasting, directly mitigating nitrate leaching into rural groundwater aquifers, soil acidification, and agricultural runoff eutrophication.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4340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41655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23026"/>
                </a:solidFill>
              </a:defRPr>
            </a:pPr>
            <a:r>
              <a:t>🌾 Carbon Sequestration &amp; Regeneration Monitoring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Equips agrarian NGOs, carbon credit verifiers, and agricultural departments to monitor field-scale Soil Organic Carbon (SOC) regeneration over multi-year regenerative farming initiatives.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0352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7667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23026"/>
                </a:solidFill>
              </a:defRPr>
            </a:pPr>
            <a:r>
              <a:t>🌾 Micro-Finance &amp; Agricultural Crop Insurance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Supplies banks and insurance underwriters with verified, objective land fertility benchmarks to assess farm productivity potential and risk prior to loan disbursement.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5911E"/>
                </a:solidFill>
              </a:defRPr>
            </a:pPr>
            <a:r>
              <a:t>PHASE 1 PROJECT REVIEW</a:t>
            </a:r>
          </a:p>
          <a:p>
            <a:pPr>
              <a:defRPr sz="2200" b="1">
                <a:solidFill>
                  <a:srgbClr val="123026"/>
                </a:solidFill>
              </a:defRPr>
            </a:pPr>
            <a:r>
              <a:t>Hardware &amp; Software Requirements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98055"/>
                </a:solidFill>
              </a:defRPr>
            </a:pPr>
            <a:r>
              <a:t>Hardware Specifications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/>
            </a:pPr>
            <a:r>
              <a:t>💻 Processor: Multi-core Intel Core i5/i7 (11th Gen+) or AMD Ryzen 5/7 for parallel geospatial raster clipping.</a:t>
            </a:r>
          </a:p>
          <a:p>
            <a:pPr>
              <a:spcAft>
                <a:spcPts val="1200"/>
              </a:spcAft>
              <a:defRPr sz="1200"/>
            </a:pPr>
            <a:r>
              <a:t>💻 Memory (RAM): Minimum 16 GB DDR4/DDR5 RAM to handle multi-band satellite raster stacking in memory.</a:t>
            </a:r>
          </a:p>
          <a:p>
            <a:pPr>
              <a:spcAft>
                <a:spcPts val="1200"/>
              </a:spcAft>
              <a:defRPr sz="1200"/>
            </a:pPr>
            <a:r>
              <a:t>💻 GPU Acceleration: NVIDIA GTX/RTX GPU (or Google Colab / Kaggle Cloud T4/V100 GPU) for accelerated model cross-validation.</a:t>
            </a:r>
          </a:p>
          <a:p>
            <a:pPr>
              <a:spcAft>
                <a:spcPts val="1200"/>
              </a:spcAft>
              <a:defRPr sz="1200"/>
            </a:pPr>
            <a:r>
              <a:t>💻 Storage: 50 GB High-Speed NVMe SSD for local dataset caching and preprocessed training tables.</a:t>
            </a:r>
          </a:p>
          <a:p>
            <a:pPr>
              <a:spcAft>
                <a:spcPts val="1200"/>
              </a:spcAft>
              <a:defRPr sz="1200"/>
            </a:pPr>
            <a:r>
              <a:t>💻 Network: High-speed broadband connection (&gt;20 Mbps) for streaming Cloud-Optimized GeoTIFFs via STAC API.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98055"/>
                </a:solidFill>
              </a:defRPr>
            </a:pPr>
            <a:r>
              <a:t>Software &amp; Development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10312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/>
            </a:pPr>
            <a:r>
              <a:t>⚙️ Programming Language: Python 3.10 / 3.11.</a:t>
            </a:r>
          </a:p>
          <a:p>
            <a:pPr>
              <a:spcAft>
                <a:spcPts val="1200"/>
              </a:spcAft>
              <a:defRPr sz="1200"/>
            </a:pPr>
            <a:r>
              <a:t>⚙️ Cloud Earth Observation APIs: Microsoft Planetary Computer STAC API (`pystac-client`, `planetary-computer`).</a:t>
            </a:r>
          </a:p>
          <a:p>
            <a:pPr>
              <a:spcAft>
                <a:spcPts val="1200"/>
              </a:spcAft>
              <a:defRPr sz="1200"/>
            </a:pPr>
            <a:r>
              <a:t>⚙️ Geospatial Raster Libraries: `rasterio`, `rioxarray`, `geopandas`, `shapely` for coordinate reprojection and COG windowing.</a:t>
            </a:r>
          </a:p>
          <a:p>
            <a:pPr>
              <a:spcAft>
                <a:spcPts val="1200"/>
              </a:spcAft>
              <a:defRPr sz="1200"/>
            </a:pPr>
            <a:r>
              <a:t>⚙️ Machine Learning Suite: `scikit-learn`, `xgboost`, `lightgbm` for regression modeling and spatial cross-validation.</a:t>
            </a:r>
          </a:p>
          <a:p>
            <a:pPr>
              <a:spcAft>
                <a:spcPts val="1200"/>
              </a:spcAft>
              <a:defRPr sz="1200"/>
            </a:pPr>
            <a:r>
              <a:t>⚙️ Visualization &amp; Web GIS: `matplotlib`, `seaborn`, `folium` / `leaflet` for interactive intra-field heatmap rendering.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5911E"/>
                </a:solidFill>
              </a:defRPr>
            </a:pPr>
            <a:r>
              <a:t>PHASE 1 PROJECT REVIEW</a:t>
            </a:r>
          </a:p>
          <a:p>
            <a:pPr>
              <a:defRPr sz="2200" b="1">
                <a:solidFill>
                  <a:srgbClr val="123026"/>
                </a:solidFill>
              </a:defRPr>
            </a:pPr>
            <a:r>
              <a:t>Project Execution Plan (Timeline &amp; Milestones)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6984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36192"/>
            <a:ext cx="10332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23026"/>
                </a:solidFill>
              </a:rPr>
              <a:t>📅 Phase 1: Research, Feasibility &amp; Pipeline Prototyping (CURRENT PHASE)  </a:t>
            </a:r>
            <a:r>
              <a:rPr sz="1100" b="1">
                <a:solidFill>
                  <a:srgbClr val="198754"/>
                </a:solidFill>
              </a:rPr>
              <a:t>[COMPLETED]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• Thorough literature survey of 16 peer-reviewed papers across 4 team roles.</a:t>
            </a:r>
            <a:br/>
            <a:r>
              <a:t>• Verified satellite data access via STAC API with sub-second pixel extraction.</a:t>
            </a:r>
            <a:br/>
            <a:r>
              <a:t>• Extracted benchmark training datasets and established spatial cross-validation framework.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51760"/>
            <a:ext cx="106984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724912"/>
            <a:ext cx="10332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23026"/>
                </a:solidFill>
              </a:rPr>
              <a:t>📅 Phase 2: Feature Extraction &amp; Machine Learning Benchmarking (Month 1 – Month 2)  </a:t>
            </a:r>
            <a:r>
              <a:rPr sz="1100" b="1">
                <a:solidFill>
                  <a:srgbClr val="C5911E"/>
                </a:solidFill>
              </a:rPr>
              <a:t>[UPCOMING]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• Train and fine-tune XGBoost, LightGBM, and Random Forest regressors for N, P, K, pH, and SOC.</a:t>
            </a:r>
            <a:br/>
            <a:r>
              <a:t>• Implement Spatial GroupKFold Cross-Validation across regional administrative units.</a:t>
            </a:r>
            <a:br/>
            <a:r>
              <a:t>• Evaluate R², RMSE, and RPIQ metrics against established academic baselines.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106984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10332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23026"/>
                </a:solidFill>
              </a:rPr>
              <a:t>📅 Phase 3: Field-Scale Raster Inference Engine (Month 2 – Month 3)  </a:t>
            </a:r>
            <a:r>
              <a:rPr sz="1100" b="1">
                <a:solidFill>
                  <a:srgbClr val="C5911E"/>
                </a:solidFill>
              </a:rPr>
              <a:t>[UPCOMING]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• Construct automated 2D raster prediction pipeline mapping farm boundary GeoJSON to nutrient rasters.</a:t>
            </a:r>
            <a:br/>
            <a:r>
              <a:t>• Implement multi-temporal Barest Earth compositing across seasonal tillage windows.</a:t>
            </a:r>
            <a:br/>
            <a:r>
              <a:t>• Generate intra-field nutrient zoning and uncertainty standard deviation maps.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029200"/>
            <a:ext cx="106984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02352"/>
            <a:ext cx="10332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23026"/>
                </a:solidFill>
              </a:rPr>
              <a:t>📅 Phase 4: Web Application, Advisory Integration &amp; Final Defense (Month 3 – Month 4)  </a:t>
            </a:r>
            <a:r>
              <a:rPr sz="1100" b="1">
                <a:solidFill>
                  <a:srgbClr val="C5911E"/>
                </a:solidFill>
              </a:rPr>
              <a:t>[UPCOMING]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• Build user-friendly Web GIS dashboard (FastAPI backend + Leaflet/React map interface).</a:t>
            </a:r>
            <a:br/>
            <a:r>
              <a:t>• Integrate agronomic fertilizer dosage calculator (Urea, DAP, MOP splits).</a:t>
            </a:r>
            <a:br/>
            <a:r>
              <a:t>• Field validation with regional agricultural testing centers and final project submission.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5911E"/>
                </a:solidFill>
              </a:defRPr>
            </a:pPr>
            <a:r>
              <a:t>PHASE 1 PROJECT REVIEW</a:t>
            </a:r>
          </a:p>
          <a:p>
            <a:pPr>
              <a:defRPr sz="2200" b="1">
                <a:solidFill>
                  <a:srgbClr val="123026"/>
                </a:solidFill>
              </a:defRPr>
            </a:pPr>
            <a:r>
              <a:t>Conclusion &amp; Expected Outcomes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98055"/>
                </a:solidFill>
              </a:defRPr>
            </a:pPr>
            <a:r>
              <a:t>Key Takeaways from 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/>
            </a:pPr>
            <a:r>
              <a:t>✔ Scientific Feasibility Proven: Verified the physical and spectral mechanisms linking Sentinel-2 VNIR/SWIR reflectance to soil organic carbon, clay minerals, and indirect NPK covariance.</a:t>
            </a:r>
          </a:p>
          <a:p>
            <a:pPr>
              <a:spcAft>
                <a:spcPts val="1200"/>
              </a:spcAft>
              <a:defRPr sz="1200"/>
            </a:pPr>
            <a:r>
              <a:t>✔ Zero-Waste Cloud Architecture: Successfully implemented and verified Cloud-Optimized GeoTIFF streaming via STAC API, fetching farm-level data in 1.3 seconds without full-tile downloads.</a:t>
            </a:r>
          </a:p>
          <a:p>
            <a:pPr>
              <a:spcAft>
                <a:spcPts val="1200"/>
              </a:spcAft>
              <a:defRPr sz="1200"/>
            </a:pPr>
            <a:r>
              <a:t>✔ Defensible Validation Strategy: Overcame spatial autocorrelation hazards by formulating Spatial Block Cross-Validation, ensuring models generalize to unseen farms.</a:t>
            </a:r>
          </a:p>
          <a:p>
            <a:pPr>
              <a:spcAft>
                <a:spcPts val="1200"/>
              </a:spcAft>
              <a:defRPr sz="1200"/>
            </a:pPr>
            <a:r>
              <a:t>✔ Team Specialization: Distinct role allocation across Data Engineering, ML Modeling, Chemistry Targets, and GIS Mapping guarantees rapid Phase 2 execution.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98055"/>
                </a:solidFill>
              </a:defRPr>
            </a:pPr>
            <a:r>
              <a:t>Expected Outcomes of Phase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10312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/>
            </a:pPr>
            <a:r>
              <a:t>🚀 Trained AI Regression Suite: Validated machine learning regressors predicting Nitrogen, Available Phosphorus, Exchangeable Potassium, pH, and SOC.</a:t>
            </a:r>
          </a:p>
          <a:p>
            <a:pPr>
              <a:spcAft>
                <a:spcPts val="1200"/>
              </a:spcAft>
              <a:defRPr sz="1200"/>
            </a:pPr>
            <a:r>
              <a:t>🚀 Continuous 2D Nutrient Heatmaps: High-resolution (10m) intra-field fertility maps showing exact management zones within farm boundaries.</a:t>
            </a:r>
          </a:p>
          <a:p>
            <a:pPr>
              <a:spcAft>
                <a:spcPts val="1200"/>
              </a:spcAft>
              <a:defRPr sz="1200"/>
            </a:pPr>
            <a:r>
              <a:t>🚀 Actionable Advisory Engine: Direct translation of chemical values into customized fertilizer dosage plans (Urea, DAP, MOP).</a:t>
            </a:r>
          </a:p>
          <a:p>
            <a:pPr>
              <a:spcAft>
                <a:spcPts val="1200"/>
              </a:spcAft>
              <a:defRPr sz="1200"/>
            </a:pPr>
            <a:r>
              <a:t>🚀 Empowerment of Smallholders: Democratizing soil health assessment by eliminating laboratory turnaround delays and testing expenses.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C5911E"/>
                </a:solidFill>
              </a:defRPr>
            </a:pPr>
            <a:r>
              <a:t>PHASE 1 PROJECT REVIEW</a:t>
            </a:r>
          </a:p>
          <a:p>
            <a:pPr>
              <a:defRPr sz="2200" b="1">
                <a:solidFill>
                  <a:srgbClr val="123026"/>
                </a:solidFill>
              </a:defRPr>
            </a:pPr>
            <a:r>
              <a:t>References (Journals &amp; Conferences with Direct Access)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>
                <a:solidFill>
                  <a:srgbClr val="0D6EFD"/>
                </a:solidFill>
                <a:hlinkClick r:id="rId2"/>
              </a:rPr>
              <a:t>[1] Castaldi, F. et al. (2019). Assessing the capability of Sentinel-2 data for predicting soil organic carbon and texture. Remote Sens. Environ.  [🔗 Open Paper]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0D6EFD"/>
                </a:solidFill>
                <a:hlinkClick r:id="rId3"/>
              </a:rPr>
              <a:t>[2] Gholizadeh, A. et al. (2021). Sentinel-2 and Landsat-8 Multi-Temporal Series to Estimate Topsoil. MDPI Remote Sensing.  [🔗 Open Paper]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0D6EFD"/>
                </a:solidFill>
                <a:hlinkClick r:id="rId4"/>
              </a:rPr>
              <a:t>[3] Piccoli, I. et al. (2023). Estimation of soil characteristics from multispectral Sentinel-3 and DEM derivatives. MDPI Sensors.  [🔗 Open Paper]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0D6EFD"/>
                </a:solidFill>
                <a:hlinkClick r:id="rId5"/>
              </a:rPr>
              <a:t>[4] Demattê, J. A. M. et al. (2018). Soil spectral library and its use in soil classification. Revista Ciência Agronômica.  [🔗 Open Paper]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0D6EFD"/>
                </a:solidFill>
                <a:hlinkClick r:id="rId6"/>
              </a:rPr>
              <a:t>[5] Kammerlander, C. et al. (2025). Machine learning models for soil parameter prediction based on satellite and weather data. arXiv:2503.22276.  [🔗 Open Paper]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0D6EFD"/>
                </a:solidFill>
                <a:hlinkClick r:id="rId7"/>
              </a:rPr>
              <a:t>[6] Vohland, M. et al. (2018). Mapping soil properties with Sentinel-2 and Landsat-8 data: Comparison of ML approaches. MDPI Remote Sensing.  [🔗 Open Paper]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0D6EFD"/>
                </a:solidFill>
                <a:hlinkClick r:id="rId8"/>
              </a:rPr>
              <a:t>[7] Frontiers in Remote Sensing (2024). Prediction of soil texture using remote sensing data: Systematic review and meta-analysis.  [🔗 Open Paper]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0D6EFD"/>
                </a:solidFill>
                <a:hlinkClick r:id="rId9"/>
              </a:rPr>
              <a:t>[8] Dotto, A. C. et al. (2018). Predicting soil properties using machine learning, soil spectral libraries, and remote sensing covariates. Geoderma.  [🔗 Open Paper]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0D6EFD"/>
                </a:solidFill>
                <a:hlinkClick r:id="rId10"/>
              </a:rPr>
              <a:t>[9] Charishma, K. et al. (2024). Estimation of top soil properties by Sentinel-2 imaging. Taylor &amp; Francis Online.  [🔗 Open Paper]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0D6EFD"/>
                </a:solidFill>
                <a:hlinkClick r:id="rId11"/>
              </a:rPr>
              <a:t>[10] Ng, W. et al. (2019). Evaluating the utility of Sentinel-2 spectral data for mapping topsoil organic carbon. Geoderma.  [🔗 Open Paper]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0D6EFD"/>
                </a:solidFill>
                <a:hlinkClick r:id="rId12"/>
              </a:rPr>
              <a:t>[11] Bhargavi, P. &amp; Anitha, S. (2026). Soil nutrient prediction model using data mining techniques for sustainable farming. IJSET.  [🔗 Open Paper]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0D6EFD"/>
                </a:solidFill>
                <a:hlinkClick r:id="rId13"/>
              </a:rPr>
              <a:t>[12] CIGR Journal (2025). Sensor-based framework for soil nutrients prediction using deep learning and hybrid feature extraction.  [🔗 Open Paper]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0D6EFD"/>
                </a:solidFill>
                <a:hlinkClick r:id="rId14"/>
              </a:rPr>
              <a:t>[13] Taghizadeh-Mehrjardi, R. et al. (2020). Digital mapping of soil organic carbon using remote sensing and machine learning. Geoderma.  [🔗 Open Paper]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0D6EFD"/>
                </a:solidFill>
                <a:hlinkClick r:id="rId15"/>
              </a:rPr>
              <a:t>[14] IEEE Access (2021). Estimating Soil Organic Matter Content Using Sentinel-2 Imagery by Machine Learning. IEEE Access.  [🔗 Open Paper]</a:t>
            </a:r>
          </a:p>
          <a:p>
            <a:pPr>
              <a:spcAft>
                <a:spcPts val="400"/>
              </a:spcAft>
            </a:pPr>
            <a:r>
              <a:rPr sz="950">
                <a:solidFill>
                  <a:srgbClr val="0D6EFD"/>
                </a:solidFill>
                <a:hlinkClick r:id="rId16"/>
              </a:rPr>
              <a:t>[15] Wang, J. et al. (2021). Soil salinity and nutrient mapping using machine learning with Sentinel-2 in agricultural zones. MDPI Remote Sensing.  [🔗 Open Paper]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