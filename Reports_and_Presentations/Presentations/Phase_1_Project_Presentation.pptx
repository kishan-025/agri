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300" b="1">
                <a:solidFill>
                  <a:srgbClr val="2E7559"/>
                </a:solidFill>
              </a:defRPr>
            </a:pPr>
            <a:r>
              <a:t>CAPSTONE ENGINEERING PROJECT PROPOSAL (PHASE 1)</a:t>
            </a:r>
          </a:p>
          <a:p>
            <a:pPr>
              <a:spcAft>
                <a:spcPts val="2500"/>
              </a:spcAft>
              <a:defRPr sz="3000" b="1">
                <a:solidFill>
                  <a:srgbClr val="143223"/>
                </a:solidFill>
              </a:defRPr>
            </a:pPr>
            <a:r>
              <a:t>AI-Driven Satellite Remote Sensing for Field-Scale</a:t>
            </a:r>
            <a:br/>
            <a:r>
              <a:t>Soil Nutrient (NPK) and Health Assessment</a:t>
            </a:r>
          </a:p>
          <a:p>
            <a:pPr>
              <a:spcAft>
                <a:spcPts val="2000"/>
              </a:spcAft>
              <a:defRPr sz="1600" b="1">
                <a:solidFill>
                  <a:srgbClr val="C59B27"/>
                </a:solidFill>
              </a:defRPr>
            </a:pPr>
            <a:r>
              <a:t>Under the Guidance of: Dr. Pramod T. C.</a:t>
            </a:r>
          </a:p>
          <a:p>
            <a:pPr>
              <a:spcAft>
                <a:spcPts val="2000"/>
              </a:spcAft>
              <a:defRPr sz="1300">
                <a:solidFill>
                  <a:srgbClr val="1E1E1E"/>
                </a:solidFill>
              </a:defRPr>
            </a:pPr>
            <a:r>
              <a:t>Project Team &amp; Specialization Roles:</a:t>
            </a:r>
            <a:br/>
            <a:r>
              <a:t>• Member 1: Data Engineering &amp; Satellite Preprocessing Lead</a:t>
            </a:r>
            <a:br/>
            <a:r>
              <a:t>• Member 2: Machine Learning &amp; Predictive Modeling Lead</a:t>
            </a:r>
            <a:br/>
            <a:r>
              <a:t>• Member 3: Soil Target Chemistry &amp; Advisory System Lead</a:t>
            </a:r>
            <a:br/>
            <a:r>
              <a:t>• Member 4: Spatial GIS Integration &amp; Inference Pipeline Lead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Department of Computer Science &amp; Engineering |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Introduction &amp; 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The Critical Need for Soil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/>
            </a:pPr>
            <a:r>
              <a:t>• Foundation of Agriculture: Healthy soil fertility directly dictates crop yield, nutrient security, and economic returns.</a:t>
            </a:r>
          </a:p>
          <a:p>
            <a:pPr>
              <a:spcAft>
                <a:spcPts val="1200"/>
              </a:spcAft>
              <a:defRPr sz="1300"/>
            </a:pPr>
            <a:r>
              <a:t>• Primary Nutrients: Nitrogen (N), Phosphorus (P), Potassium (K), Soil Organic Carbon (SOC), and pH are the essential determinants of crop nutrition.</a:t>
            </a:r>
          </a:p>
          <a:p>
            <a:pPr>
              <a:spcAft>
                <a:spcPts val="1200"/>
              </a:spcAft>
              <a:defRPr sz="1300"/>
            </a:pPr>
            <a:r>
              <a:t>• Precision Agriculture Shift: Global agriculture is shifting from blanket fertilizer broadcasting to site-specific variable-rate nutrient management.</a:t>
            </a:r>
          </a:p>
          <a:p>
            <a:pPr>
              <a:spcAft>
                <a:spcPts val="1200"/>
              </a:spcAft>
              <a:defRPr sz="1300"/>
            </a:pPr>
            <a:r>
              <a:t>• The Digital Challenge: How can individual farmers assess intra-field soil condition on demand without expensive manual soil sampling?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Proposed Solution &amp;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/>
            </a:pPr>
            <a:r>
              <a:t>• Satellite Earth Observation: Utilizing European Space Agency (ESA) Copernicus Sentinel-2 multispectral imagery (10m–20m resolution, 5-day revisit).</a:t>
            </a:r>
          </a:p>
          <a:p>
            <a:pPr>
              <a:spcAft>
                <a:spcPts val="1200"/>
              </a:spcAft>
              <a:defRPr sz="1300"/>
            </a:pPr>
            <a:r>
              <a:t>• Chemometric Feature Engineering: Extracting 10 spectral bands (VNIR to SWIR) and calculating specialized mineral/canopy indices (BSI, NDRE, Clay Ratio).</a:t>
            </a:r>
          </a:p>
          <a:p>
            <a:pPr>
              <a:spcAft>
                <a:spcPts val="1200"/>
              </a:spcAft>
              <a:defRPr sz="1300"/>
            </a:pPr>
            <a:r>
              <a:t>• Non-Invasive AI Regression: Employing robust Gradient Boosted Decision Trees (XGBoost, LightGBM) to map surface reflectance to standardized soil chemical levels.</a:t>
            </a:r>
          </a:p>
          <a:p>
            <a:pPr>
              <a:spcAft>
                <a:spcPts val="1200"/>
              </a:spcAft>
              <a:defRPr sz="1300"/>
            </a:pPr>
            <a:r>
              <a:t>• Actionable Farmer Output: Generating 2D spatial fertility heatmaps and tailored fertilizer dosage schedules directly accessible via web GIS.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LITERATURE SURVEY (1/3)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Literature Survey: Data Engineering &amp; Soil Spectroscopy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Castaldi et al. (2019) – Remote Sensing / Copernicus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Evaluated Sentinel-2 MSI for predicting Soil Organic Carbon and texture across European croplands using bare-soil compositing. Proved 10m/20m bands provide sufficient fidelity to map topsoil properties.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Gholizadeh et al. (2021) – MDPI Remote Sensing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Demonstrated multi-temporal Sentinel-2 and Landsat-8 series to estimate topsoil attributes. Established that temporal median compositing cancels out ephemeral rainfall and atmospheric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Piccoli et al. (2023) – MDPI Sensors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Coupled multispectral satellite imagery with Digital Elevation Model (DEM) derivatives (slope, Topographic Wetness Index). Proved terrain hydrology significantly improves nutrient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Demattê et al. (2018) – Soil Spectral Libraries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Constructed comprehensive soil spectral libraries (400–2500 nm). Characterized fundamental absorption overtones for clay minerals (2200 nm), organic matter, and moisture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Dotto et al. (2018) – ScienceDirect Geoderma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Demonstrated that predicting secondary nutrients (P and K) requires fusing satellite spectral data with environmental covariates (climate and topography) due to mineral lattice binding.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LITERATURE SURVEY (2/3)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Literature Survey: Machine Learning &amp; Spatial Modeling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Kammerlander et al. (2025) – arXiv:2503.22276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Benchmarked Random Forest, XGBoost, and FCNN using Sentinel-2, ERA5 weather, and geospatial foundation embeddings on 20,000+ topsoil samples. Proved tree-based ensembles outperform neural networks on tabular spectral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Vohland et al. (2018) – MDPI Remote Sensing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Compared Support Vector Machines, PLSR, and Random Forest on Sentinel-2 data. Found non-linear ensemble models handle inter-band collinearity far better than traditional linear chemometrics.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Frontiers in Remote Sensing (2024) – Meta-Analysis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Systematic review of 100+ papers mapping soil texture and nutrients from orbit. Identified realistic predictive ceilings and highlighted feature selection to avoid overfitting.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MDPI Sensors (2021) – Spectroscopic Machine Learning Strategy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Explored feature dimensionality reduction (PCA, spectral ratio indices) and inference optimization, demonstrating robust prediction of macronutrients when moisture is normalized.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IEEE Access (2021) – Soil Organic Matter via Sentinel-2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Developed an automated pixel-by-pixel inference pipeline translating Level-2A surface reflectance tiles into continuous organic matter percentage maps across agricultural parcels.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LITERATURE SURVEY (3/3)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Literature Survey: Nutrient Targets &amp; Spatial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Charishma et al. (2024) – Taylor &amp; Francis Online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Investigated topsoil physical-chemical property estimation via Sentinel-2, identifying band combinations sensitive to available nitrogen and soil organic fractions in the top 0–20 cm plow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Ng et al. (2019) – ScienceDirect Geoderma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Evaluated Sentinel-2 spectral data for mapping topsoil organic carbon (SOC), proving robust correlation (R² &gt; 0.70) when crop residue and dry vegetation are separated via SWIR indices.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Bhargavi &amp; Anitha (2026) – IJSET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Developed a soil nutrient prediction model using data mining techniques; demonstrated classification of continuous nutrient ppm values into actionable Low/Medium/High fertility management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CIGR Journal (2025) – Deep Learning Nutrient Framework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Proposed a sensor-based framework for soil nutrient prediction using hybrid feature extraction, combining remote spectral reflectance with environmental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Taghizadeh-Mehrjardi et al. (2020) &amp; Wang et al. (2021) – ScienceDirect / MDPI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Formulated digital soil mapping (DSM) spatial interpolation and uncertainty quantification, mapping soil salinity and nutrient gradients in agricultural zones.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Limitations of the Existing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Traditional Wet-Chemical Soil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❌ Time-Intensive: Laboratory turnaround takes 2 to 4 weeks, frequently missing the crucial pre-sowing fertilization window.</a:t>
            </a:r>
          </a:p>
          <a:p>
            <a:pPr>
              <a:spcAft>
                <a:spcPts val="1200"/>
              </a:spcAft>
              <a:defRPr sz="1200"/>
            </a:pPr>
            <a:r>
              <a:t>❌ High Economic Cost: Testing costs ₹500 to ₹2,500 per sample, making routine and regular testing unaffordable for smallholder farmers.</a:t>
            </a:r>
          </a:p>
          <a:p>
            <a:pPr>
              <a:spcAft>
                <a:spcPts val="1200"/>
              </a:spcAft>
              <a:defRPr sz="1200"/>
            </a:pPr>
            <a:r>
              <a:t>❌ Severe Spatial Sparsity: A single composite soil sample is collected for a 5-to-10 acre parcel, completely erasing intra-field spatial variability.</a:t>
            </a:r>
          </a:p>
          <a:p>
            <a:pPr>
              <a:spcAft>
                <a:spcPts val="1200"/>
              </a:spcAft>
              <a:defRPr sz="1200"/>
            </a:pPr>
            <a:r>
              <a:t>❌ Destructive &amp; Labor-Heavy: Requires manual core drilling, bagging, transport, chemical reagents (Kjeldahl digestion, Olsen extraction), and hazardous chemical disposal.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Limitations of Naive Satellite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⚠️ The Vegetation Obstruction Dilemma: Prior simple models fail when crops cover the land, confusing green leaf chlorophyll with bare soil reflectance.</a:t>
            </a:r>
          </a:p>
          <a:p>
            <a:pPr>
              <a:spcAft>
                <a:spcPts val="1200"/>
              </a:spcAft>
              <a:defRPr sz="1200"/>
            </a:pPr>
            <a:r>
              <a:t>⚠️ Ignoring Sensor Physics: Naive models assume direct optical detection of elemental P and K, ignoring that P and K depend on secondary mineral covariance (clays and iron oxides).</a:t>
            </a:r>
          </a:p>
          <a:p>
            <a:pPr>
              <a:spcAft>
                <a:spcPts val="1200"/>
              </a:spcAft>
              <a:defRPr sz="1200"/>
            </a:pPr>
            <a:r>
              <a:t>⚠️ Spatial Data Leakage in ML: Standard random train/test splits cause extreme spatial autocorrelation leakage, creating artificially inflated R² scores that fail in real-world fields.</a:t>
            </a:r>
          </a:p>
          <a:p>
            <a:pPr>
              <a:spcAft>
                <a:spcPts val="1200"/>
              </a:spcAft>
              <a:defRPr sz="1200"/>
            </a:pPr>
            <a:r>
              <a:t>⚠️ Lack of Farmer Advisory: Existing research stops at raw scientific numbers (ppm) without translating predictions into practical fertilizer bag splits (Urea, DAP, MOP).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Formal 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i="1">
                <a:solidFill>
                  <a:srgbClr val="143223"/>
                </a:solidFill>
              </a:defRPr>
            </a:pPr>
            <a:r>
              <a:t>"Conventional laboratory soil testing methods are financially inaccessible, slow, and spatially sparse for smallholder farmers, leading to indiscriminate chemical fertilizer application, severe soil degradation, and diminished crop productivity.</a:t>
            </a:r>
          </a:p>
          <a:p>
            <a:pPr>
              <a:spcAft>
                <a:spcPts val="1400"/>
              </a:spcAft>
              <a:defRPr sz="1300">
                <a:solidFill>
                  <a:srgbClr val="1E1E1E"/>
                </a:solidFill>
              </a:defRPr>
            </a:pPr>
            <a:r>
              <a:t>This project formulates an automated, cloud-native remote sensing system to non-invasively estimate topsoil macronutrients—Nitrogen (N), Phosphorus (P), Potassium (K), Soil Organic Carbon (SOC), and pH—at a 10-meter field resolution from spaceborne Copernicus Sentinel-2 multispectral imagery.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Key Research Challenges Solved in This Work:</a:t>
            </a:r>
            <a:br/>
            <a:r>
              <a:t>1. Resolving the Depth Paradox: Accounting for optical skin depth (&lt;1.5 mm) vs. the 0–20 cm agricultural plow layer through tillage homogenization and canopy bio-indicator proxies.</a:t>
            </a:r>
            <a:br/>
            <a:r>
              <a:t>2. Bare Soil Isolation: Eliminating cloud, crop residue, and moisture noise via multi-temporal Barest Earth compositing (NDVI &lt; 0.25 and BSI &gt; 0).</a:t>
            </a:r>
            <a:br/>
            <a:r>
              <a:t>3. Secondary Covariance Modeling: Formulating robust machine learning regression architectures (XGBoost/LightGBM) under rigorous Spatial Block Cross-Validation to guarantee genuine out-of-field generalization."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🎯 Objective 1: Cloud-Native Satellite Data Ingestion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Architect an automated data pipeline utilizing Microsoft Planetary Computer STAC API and Cloud-Optimized GeoTIFFs (COGs) to stream 10 Sentinel-2 multispectral bands (10m–20m) for custom farm polygons in sub-second latency without full-tile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🎯 Objective 2: Multi-Temporal Bare-Soil Preprocessing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Develop an automated temporal filtering engine that queries historical satellite passes, applies Scene Classification Layer (SCL) cloud masks, and isolates exposed topsoil using NDVI (&lt;0.25) and Bare Soil Index (BSI &gt; 0) median aggregation.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🎯 Objective 3: Chemometric &amp; Mineral Feature Engineering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Extract 10 spectral bands and compute 7+ diagnostic indices: Clay Mineral Ratio (B11/B12), Ferric Iron Index (B4/B2), Carbonate Index (B12/B11), NDRE (Nitrogen), and Soil Brightness Index to capture geochemical covariance.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🎯 Objective 4: Robust Machine Learning Regression &amp; Spatial Validation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Train and benchmark Gradient Boosted Decision Trees (XGBoost, LightGBM, Random Forest) against standardized ground-truth soil databases, evaluated strictly using Spatial Block Cross-Validation (GroupKFold) to prevent geographic data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🎯 Objective 5: Spatial Heatmap Generation &amp; Agronomic Advisory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Generate intra-field 2D soil nutrient heatmaps (10m resolution) and translate continuous nutrient values into farmer-friendly Soil Health Card tiers (Low/Medium/High) with tailored fertilizer split dosage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SYSTEM DESIGN (1/2)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System Design &amp; End-to-End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1. Ingestion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• Farmer enters GPS coordinates or draws farm boundary (GeoJSON).</a:t>
            </a:r>
          </a:p>
          <a:p>
            <a:pPr>
              <a:spcAft>
                <a:spcPts val="1000"/>
              </a:spcAft>
              <a:defRPr sz="1200"/>
            </a:pPr>
            <a:r>
              <a:t>• STAC API queries Copernicus Sentinel-2 L2A (BOA Surface Reflectance).</a:t>
            </a:r>
          </a:p>
          <a:p>
            <a:pPr>
              <a:spcAft>
                <a:spcPts val="1000"/>
              </a:spcAft>
              <a:defRPr sz="1200"/>
            </a:pPr>
            <a:r>
              <a:t>• Cloud-Optimized GeoTIFFs (COGs) read only the farm bounding box via HTTP Range Requests (50 KB vs 1 GB).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2. Processing &amp; AI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• Quality Masking: SCL layer filters clouds (8,9) and shadows (3).</a:t>
            </a:r>
          </a:p>
          <a:p>
            <a:pPr>
              <a:spcAft>
                <a:spcPts val="1000"/>
              </a:spcAft>
              <a:defRPr sz="1200"/>
            </a:pPr>
            <a:r>
              <a:t>• Spatial Resampling: 20m SWIR/RedEdge bands aligned to 10m grid.</a:t>
            </a:r>
          </a:p>
          <a:p>
            <a:pPr>
              <a:spcAft>
                <a:spcPts val="1000"/>
              </a:spcAft>
              <a:defRPr sz="1200"/>
            </a:pPr>
            <a:r>
              <a:t>• Bare Soil Mosaic: NDVI &lt; 0.25 &amp; BSI &gt; 0 multi-temporal median.</a:t>
            </a:r>
          </a:p>
          <a:p>
            <a:pPr>
              <a:spcAft>
                <a:spcPts val="1000"/>
              </a:spcAft>
              <a:defRPr sz="1200"/>
            </a:pPr>
            <a:r>
              <a:t>• ML Regressors: Pre-trained XGBoost / LightGBM models predict N, P, K, pH per pixel.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3. Delivery &amp; Advisory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• 2D Nutrient Heatmap: Interactive color-coded map showing intra-field variation.</a:t>
            </a:r>
          </a:p>
          <a:p>
            <a:pPr>
              <a:spcAft>
                <a:spcPts val="1000"/>
              </a:spcAft>
              <a:defRPr sz="1200"/>
            </a:pPr>
            <a:r>
              <a:t>• Nutrient Scorecard: Field average values for N, P, K, pH, and Carbon.</a:t>
            </a:r>
          </a:p>
          <a:p>
            <a:pPr>
              <a:spcAft>
                <a:spcPts val="1000"/>
              </a:spcAft>
              <a:defRPr sz="1200"/>
            </a:pPr>
            <a:r>
              <a:t>• Agronomic Engine: Tailored Urea, DAP, MOP fertilizer application dosage.</a:t>
            </a:r>
          </a:p>
          <a:p>
            <a:pPr>
              <a:spcAft>
                <a:spcPts val="1000"/>
              </a:spcAft>
              <a:defRPr sz="1200"/>
            </a:pPr>
            <a:r>
              <a:t>• Downloadable PDF report for agricultural extension officers.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SYSTEM DESIGN (2/2)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Data Preprocessing &amp; Feature Engineering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10 Science Bands + Quality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t>🔹 B02 (Blue 490nm): Iron oxide baseline; BSI denominator.</a:t>
            </a:r>
          </a:p>
          <a:p>
            <a:pPr>
              <a:spcAft>
                <a:spcPts val="600"/>
              </a:spcAft>
              <a:defRPr sz="1100"/>
            </a:pPr>
            <a:r>
              <a:t>🔹 B03 (Green 560nm): Iron oxide reflectance ramp.</a:t>
            </a:r>
          </a:p>
          <a:p>
            <a:pPr>
              <a:spcAft>
                <a:spcPts val="600"/>
              </a:spcAft>
              <a:defRPr sz="1100"/>
            </a:pPr>
            <a:r>
              <a:t>🔹 B04 (Red 665nm): Chlorophyll absorption; Soil Line baseline.</a:t>
            </a:r>
          </a:p>
          <a:p>
            <a:pPr>
              <a:spcAft>
                <a:spcPts val="600"/>
              </a:spcAft>
              <a:defRPr sz="1100"/>
            </a:pPr>
            <a:r>
              <a:t>🔹 B05, B06, B07 (Red Edge 705–783nm): Nitrogen uptake &amp; leaf chlorosis.</a:t>
            </a:r>
          </a:p>
          <a:p>
            <a:pPr>
              <a:spcAft>
                <a:spcPts val="600"/>
              </a:spcAft>
              <a:defRPr sz="1100"/>
            </a:pPr>
            <a:r>
              <a:t>🔹 B08 / B8A (NIR 842/865nm): Vegetation biomass &amp; iron oxide transitions.</a:t>
            </a:r>
          </a:p>
          <a:p>
            <a:pPr>
              <a:spcAft>
                <a:spcPts val="600"/>
              </a:spcAft>
              <a:defRPr sz="1100"/>
            </a:pPr>
            <a:r>
              <a:t>🔹 B11 (SWIR-1 1610nm): Soil Organic Carbon &amp; moisture overtones.</a:t>
            </a:r>
          </a:p>
          <a:p>
            <a:pPr>
              <a:spcAft>
                <a:spcPts val="600"/>
              </a:spcAft>
              <a:defRPr sz="1100"/>
            </a:pPr>
            <a:r>
              <a:t>🔹 B12 (SWIR-2 2190nm): 2200nm Al-OH clay lattice (P/K proxy) &amp; Calcite (pH).</a:t>
            </a:r>
          </a:p>
          <a:p>
            <a:pPr>
              <a:spcAft>
                <a:spcPts val="600"/>
              </a:spcAft>
              <a:defRPr sz="1100"/>
            </a:pPr>
            <a:r>
              <a:t>🔹 SCL (Scene Classification): Validates SCL=5 (Bare Soil) vs SCL=4 (Vegetated).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Engineered Geochemical Spectral Indices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/>
            </a:pPr>
            <a:r>
              <a:t>🔸 Bare Soil Index (BSI): ((B11 + B4) - (B8 + B2)) / ((B11 + B4) + (B8 + B2))</a:t>
            </a:r>
            <a:br/>
            <a:r>
              <a:t>→ Isolates exposed topsoil from vegetation (BSI &gt; 0.0).</a:t>
            </a:r>
          </a:p>
          <a:p>
            <a:pPr>
              <a:spcAft>
                <a:spcPts val="800"/>
              </a:spcAft>
              <a:defRPr sz="1100"/>
            </a:pPr>
            <a:r>
              <a:t>🔸 Clay Mineral Ratio (CMR): B11 / B12</a:t>
            </a:r>
            <a:br/>
            <a:r>
              <a:t>→ Detects 2200nm Al-OH clay dip; proxy for Phosphorus &amp; Potassium CEC.</a:t>
            </a:r>
          </a:p>
          <a:p>
            <a:pPr>
              <a:spcAft>
                <a:spcPts val="800"/>
              </a:spcAft>
              <a:defRPr sz="1100"/>
            </a:pPr>
            <a:r>
              <a:t>🔸 Ferric Iron Index (FII): B4 / B2</a:t>
            </a:r>
            <a:br/>
            <a:r>
              <a:t>→ Detects Hematite/Goethite oxides where Available Phosphate binds.</a:t>
            </a:r>
          </a:p>
          <a:p>
            <a:pPr>
              <a:spcAft>
                <a:spcPts val="800"/>
              </a:spcAft>
              <a:defRPr sz="1100"/>
            </a:pPr>
            <a:r>
              <a:t>🔸 Carbonate Index (CI): B12 / B11</a:t>
            </a:r>
            <a:br/>
            <a:r>
              <a:t>→ Detects Calcite (CaCO3 at 2340nm); primary proxy for Soil pH.</a:t>
            </a:r>
          </a:p>
          <a:p>
            <a:pPr>
              <a:spcAft>
                <a:spcPts val="800"/>
              </a:spcAft>
              <a:defRPr sz="1100"/>
            </a:pPr>
            <a:r>
              <a:t>🔸 Red Edge Nitrogen (NDRE): (B8 - B5) / (B8 + B5)</a:t>
            </a:r>
            <a:br/>
            <a:r>
              <a:t>→ Canopy chlorophyll indicator for deep root-zone Nitrogen uptake.</a:t>
            </a:r>
          </a:p>
          <a:p>
            <a:pPr>
              <a:spcAft>
                <a:spcPts val="800"/>
              </a:spcAft>
              <a:defRPr sz="1100"/>
            </a:pPr>
            <a:r>
              <a:t>🔸 Soil Brightness Index: sqrt((B4² + B3² + B8²)/3)</a:t>
            </a:r>
            <a:br/>
            <a:r>
              <a:t>→ Inversely related to Soil Organic Carbon (darkening effect).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Applications &amp; Practical Relevance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🌾 Precision Agriculture &amp; Variable Rate Application (VRA)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Enables modern tractor sprayers and drone spreaders to apply differential fertilizer dosages across high-deficiency and high-fertility zones within the same parcel, reducing input costs by up to 25%.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🌾 Accessible Digital Soil Health Cards for Smallholders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Provides instantaneous, free soil condition assessments for smallholder farmers who lack physical access to government soil testing laboratories or cannot afford private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🌾 Environmental Protection &amp; Groundwater Safeguards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Prevents indiscriminate nitrogen broadcasting, directly mitigating nitrate leaching into rural groundwater aquifers, soil acidification, and agricultural runoff eutrophication.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🌾 Carbon Sequestration &amp; Regeneration Monitoring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Equips agrarian NGOs, carbon credit verifiers, and agricultural departments to monitor field-scale Soil Organic Carbon (SOC) regeneration over multi-year regenerative farming initiatives.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🌾 Micro-Finance &amp; Agricultural Crop Insurance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Supplies banks and insurance underwriters with verified, objective land fertility benchmarks to assess farm productivity potential and risk prior to loan disbursement.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Hardware &amp; Software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Hardware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💻 Processor: Multi-core Intel Core i5/i7 (11th Gen+) or AMD Ryzen 5/7 for parallel geospatial raster clipping.</a:t>
            </a:r>
          </a:p>
          <a:p>
            <a:pPr>
              <a:spcAft>
                <a:spcPts val="1200"/>
              </a:spcAft>
              <a:defRPr sz="1200"/>
            </a:pPr>
            <a:r>
              <a:t>💻 Memory (RAM): Minimum 16 GB DDR4/DDR5 RAM to handle multi-band satellite raster stacking in memory.</a:t>
            </a:r>
          </a:p>
          <a:p>
            <a:pPr>
              <a:spcAft>
                <a:spcPts val="1200"/>
              </a:spcAft>
              <a:defRPr sz="1200"/>
            </a:pPr>
            <a:r>
              <a:t>💻 GPU Acceleration: NVIDIA GTX/RTX GPU (or Google Colab / Kaggle Cloud T4/V100 GPU) for accelerated model cross-validation.</a:t>
            </a:r>
          </a:p>
          <a:p>
            <a:pPr>
              <a:spcAft>
                <a:spcPts val="1200"/>
              </a:spcAft>
              <a:defRPr sz="1200"/>
            </a:pPr>
            <a:r>
              <a:t>💻 Storage: 50 GB High-Speed NVMe SSD for local dataset caching and preprocessed training tables.</a:t>
            </a:r>
          </a:p>
          <a:p>
            <a:pPr>
              <a:spcAft>
                <a:spcPts val="1200"/>
              </a:spcAft>
              <a:defRPr sz="1200"/>
            </a:pPr>
            <a:r>
              <a:t>💻 Network: High-speed broadband connection (&gt;20 Mbps) for streaming Cloud-Optimized GeoTIFFs via STAC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Software &amp; Development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⚙️ Programming Language: Python 3.10 / 3.11.</a:t>
            </a:r>
          </a:p>
          <a:p>
            <a:pPr>
              <a:spcAft>
                <a:spcPts val="1200"/>
              </a:spcAft>
              <a:defRPr sz="1200"/>
            </a:pPr>
            <a:r>
              <a:t>⚙️ Cloud Earth Observation APIs: Microsoft Planetary Computer STAC API (`pystac-client`, `planetary-computer`).</a:t>
            </a:r>
          </a:p>
          <a:p>
            <a:pPr>
              <a:spcAft>
                <a:spcPts val="1200"/>
              </a:spcAft>
              <a:defRPr sz="1200"/>
            </a:pPr>
            <a:r>
              <a:t>⚙️ Geospatial Raster Libraries: `rasterio`, `rioxarray`, `geopandas`, `shapely` for coordinate reprojection and COG windowing.</a:t>
            </a:r>
          </a:p>
          <a:p>
            <a:pPr>
              <a:spcAft>
                <a:spcPts val="1200"/>
              </a:spcAft>
              <a:defRPr sz="1200"/>
            </a:pPr>
            <a:r>
              <a:t>⚙️ Machine Learning Suite: `scikit-learn`, `xgboost`, `lightgbm` for regression modeling and spatial cross-validation.</a:t>
            </a:r>
          </a:p>
          <a:p>
            <a:pPr>
              <a:spcAft>
                <a:spcPts val="1200"/>
              </a:spcAft>
              <a:defRPr sz="1200"/>
            </a:pPr>
            <a:r>
              <a:t>⚙️ Visualization &amp; Web GIS: `matplotlib`, `seaborn`, `folium` / `leaflet` for interactive intra-field heatmap rendering.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Project Execution Plan (Timeline &amp; Milestones)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📅 Phase 1: Research, Feasibility &amp; Pipeline Prototyping (CURRENT PHASE - COMPLETED)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Status: Completed</a:t>
            </a:r>
            <a:br/>
            <a:r>
              <a:t>• Thorough literature survey of 16 peer-reviewed papers across 4 team roles.</a:t>
            </a:r>
            <a:br/>
            <a:r>
              <a:t>• Verified satellite data access via STAC API with sub-second pixel extraction.</a:t>
            </a:r>
            <a:br/>
            <a:r>
              <a:t>• Extracted benchmark training datasets and established spatial cross-validation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2491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📅 Phase 2: Feature Extraction &amp; Machine Learning Benchmarking (Month 1 – Month 2)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Status: Upcoming</a:t>
            </a:r>
            <a:br/>
            <a:r>
              <a:t>• Train and fine-tune XGBoost, LightGBM, and Random Forest regressors for N, P, K, pH, and SOC.</a:t>
            </a:r>
            <a:br/>
            <a:r>
              <a:t>• Implement Spatial GroupKFold Cross-Validation across regional administrative units.</a:t>
            </a:r>
            <a:br/>
            <a:r>
              <a:t>• Evaluate R², RMSE, and RPIQ metrics against established academic baselines.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📅 Phase 3: Field-Scale Raster Inference Engine (Month 2 – Month 3)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Status: Upcoming</a:t>
            </a:r>
            <a:br/>
            <a:r>
              <a:t>• Construct automated 2D raster prediction pipeline mapping farm boundary GeoJSON to nutrient rasters.</a:t>
            </a:r>
            <a:br/>
            <a:r>
              <a:t>• Implement multi-temporal Barest Earth compositing across seasonal tillage windows.</a:t>
            </a:r>
            <a:br/>
            <a:r>
              <a:t>• Generate intra-field nutrient zoning and uncertainty standard deviation maps.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0235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3223"/>
                </a:solidFill>
              </a:defRPr>
            </a:pPr>
            <a:r>
              <a:t>📅 Phase 4: Web Application, Advisory Integration &amp; Final Defense (Month 3 – Month 4)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Status: Upcoming</a:t>
            </a:r>
            <a:br/>
            <a:r>
              <a:t>• Build user-friendly Web GIS dashboard (FastAPI backend + Leaflet/React map interface).</a:t>
            </a:r>
            <a:br/>
            <a:r>
              <a:t>• Integrate agronomic fertilizer dosage calculator (Urea, DAP, MOP splits).</a:t>
            </a:r>
            <a:br/>
            <a:r>
              <a:t>• Field validation with regional agricultural testing centers and final project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Conclusion &amp; Expected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Key Takeaways from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✔ Scientific Feasibility Proven: Verified the physical and spectral mechanisms linking Sentinel-2 VNIR/SWIR reflectance to soil organic carbon, clay minerals, and indirect NPK covariance.</a:t>
            </a:r>
          </a:p>
          <a:p>
            <a:pPr>
              <a:spcAft>
                <a:spcPts val="1200"/>
              </a:spcAft>
              <a:defRPr sz="1200"/>
            </a:pPr>
            <a:r>
              <a:t>✔ Zero-Waste Cloud Architecture: Successfully implemented and verified Cloud-Optimized GeoTIFF streaming via STAC API, fetching farm-level data in 1.3 seconds without full-tile downloads.</a:t>
            </a:r>
          </a:p>
          <a:p>
            <a:pPr>
              <a:spcAft>
                <a:spcPts val="1200"/>
              </a:spcAft>
              <a:defRPr sz="1200"/>
            </a:pPr>
            <a:r>
              <a:t>✔ Defensible Validation Strategy: Overcame spatial autocorrelation hazards by formulating Spatial Block Cross-Validation, ensuring models generalize to unseen farms.</a:t>
            </a:r>
          </a:p>
          <a:p>
            <a:pPr>
              <a:spcAft>
                <a:spcPts val="1200"/>
              </a:spcAft>
              <a:defRPr sz="1200"/>
            </a:pPr>
            <a:r>
              <a:t>✔ Team Specialization: Distinct role allocation across Data Engineering, ML Modeling, Chemistry Targets, and GIS Mapping guarantees rapid Phase 2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559"/>
                </a:solidFill>
              </a:defRPr>
            </a:pPr>
            <a:r>
              <a:t>Expected Outcomes of 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🚀 Trained AI Regression Suite: Validated machine learning regressors predicting Nitrogen, Available Phosphorus, Exchangeable Potassium, pH, and SOC.</a:t>
            </a:r>
          </a:p>
          <a:p>
            <a:pPr>
              <a:spcAft>
                <a:spcPts val="1200"/>
              </a:spcAft>
              <a:defRPr sz="1200"/>
            </a:pPr>
            <a:r>
              <a:t>🚀 Continuous 2D Nutrient Heatmaps: High-resolution (10m) intra-field fertility maps showing exact management zones within farm boundaries.</a:t>
            </a:r>
          </a:p>
          <a:p>
            <a:pPr>
              <a:spcAft>
                <a:spcPts val="1200"/>
              </a:spcAft>
              <a:defRPr sz="1200"/>
            </a:pPr>
            <a:r>
              <a:t>🚀 Actionable Advisory Engine: Direct translation of chemical values into customized fertilizer dosage plans (Urea, DAP, MOP).</a:t>
            </a:r>
          </a:p>
          <a:p>
            <a:pPr>
              <a:spcAft>
                <a:spcPts val="1200"/>
              </a:spcAft>
              <a:defRPr sz="1200"/>
            </a:pPr>
            <a:r>
              <a:t>🚀 Empowerment of Smallholders: Democratizing soil health assessment by eliminating laboratory turnaround delays and testing expenses.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43223"/>
                </a:solidFill>
              </a:defRPr>
            </a:pPr>
            <a:r>
              <a:t>References (Journals &amp; Conferences)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[1] Castaldi, F. et al. (2019). Assessing the capability of Sentinel-2 data for predicting soil organic carbon and texture in agricultural areas. Remote Sensing of Environment.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[2] Gholizadeh, A. et al. (2021). Sentinel-2 and Landsat-8 Multi-Temporal Series to Estimate Topsoil Properties. MDPI Remote Sensing.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[3] Piccoli, I. et al. (2023). Estimation of soil characteristics from multispectral imagery and DEM derivatives using machine learning. MDPI Sensors.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[4] Demattê, J. A. M. et al. (2018). Soil spectral library and its use in soil classification. Revista Ciência Agronômica.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[5] Kammerlander, C. et al. (2025). Machine learning models for soil parameter prediction based on satellite, weather, clay and yield data. arXiv:2503.22276.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[6] Vohland, M. et al. (2018). Mapping soil properties with Sentinel-2 and Landsat-8 data: A comparison of machine learning approaches. MDPI Remote Sensing.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[7] Frontiers in Remote Sensing (2024). Prediction of soil texture using remote sensing data: A systematic review and meta-analysis.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[8] Dotto, A. C. et al. (2018). Predicting soil properties using machine learning, soil spectral libraries, and remote sensing covariates. Geoderma.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[9] Charishma, K. et al. (2024). Estimation of top soil properties by Sentinel-2 imaging. Taylor &amp; Francis Online.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[10] Ng, W. et al. (2019). Evaluating the utility of Sentinel-2 spectral data for mapping topsoil organic carbon. Geoderma.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[11] Bhargavi, P. &amp; Anitha, S. (2026). Soil nutrient prediction model using data mining techniques for sustainable farming. IJSET.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[12] CIGR Journal (2025). Sensor-based framework for soil nutrients prediction using deep learning and hybrid feature extraction techniques.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[13] Taghizadeh-Mehrjardi, R. et al. (2020). Digital mapping of soil organic carbon using remote sensing and machine learning. ScienceDirect.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[14] IEEE Access (2021). Estimating Soil Organic Matter Content Using Sentinel-2 Imagery by Machine Learning.</a:t>
            </a:r>
          </a:p>
          <a:p>
            <a:pPr>
              <a:spcAft>
                <a:spcPts val="400"/>
              </a:spcAft>
              <a:defRPr sz="950">
                <a:solidFill>
                  <a:srgbClr val="1E1E1E"/>
                </a:solidFill>
              </a:defRPr>
            </a:pPr>
            <a:r>
              <a:t>[15] Wang, J. et al. (2021). Soil salinity and nutrient mapping using machine learning algorithms with the Sentinel-2 MSI in agricultural zones. MDPI Remote Sensing.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